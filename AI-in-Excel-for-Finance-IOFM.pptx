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32"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7816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Thanks for spending the next hour with me. Here's the plan for today. We're going to use AI in the place where finance and accounting actually do the work, which is the spreadsheet. And we're going to do it without giving up the controls your controller and your auditors expect. I have about forty-five minutes of material, and then we'll save time for your questions. Everything I show you today is yours to keep. That includes these slides, the sample files, and a set of take-home guides. If you'd like to follow along, open the sample workbook and find the InvoiceRegister and ExpenseMemos tabs.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about me, and then we'll dive in. I help finance and Excel teams move from fragile spreadsheets to analysis they can actually trust. I've written a couple of books on analytics in Excel, I'm a Microsoft MVP, and I teach on LinkedIn Learning. Here's the one idea that runs through all of my work. The goal is not to replace the spreadsheet. The goal is to make the spreadsheet more reliable. Keep that in mind, because it's the lens for everything we're about to 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We start with judgment, meaning where AI actually fits in your workflow. Then we roll up our sleeves for two hands-on blocks. First, Copilot right inside the grid. Then the brand-new AI functions. After that we'll talk about guardrails, which is the part that makes finance comfortable using any of this. And we'll finish with a short, concrete starting point. Notice the time budget on the right. The two demo blocks are the heart of the session, so that's where we'll spend most of our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single demo, let's get the framing right. Most of the confusion about AI in Excel comes from people living at one of two extremes. Let me show you what I mean.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AI in Excel as a spectrum. On the left end, you have AI with no structure. That's when someone pastes messy data into a chat box and just hopes for the best. There's no validation, no audit trail, and no way to repeat it. In finance, that isn't innovation. That's risk. On the right end, you have structure with no AI. Everything is careful and controlled, but it's also slow and manual. People spend their days copying, checking, and reformatting instead of thinking. The sweet spot is right in the middle. It's AI layered on top of the controls Excel already gives you. Your tables, your formulas, your Power Query steps, your version history, your review workflows. In that middle, AI is an assistant that respects your structure instead of bypassing it. Everything I show you today lives in that middle.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slide will save you the most trouble, so let's slow down for it. There are two kinds of tools in Excel, and you want to know which one you're holding. On the left are the deterministic tools. Formulas, Power Query, Office Scripts. Same input, same output, every single time. That's exactly what you want for anything that has to foot and tie. On the right are the probabilistic tools. These are the AI ones. Because there's a model in the loop, the output can vary a little when you run it again. And that's perfectly fine for reading and writing tasks. Classifying a memo. Drafting a narrative. Summarizing a table. The trap to avoid is using a probabilistic tool for a deterministic job. In other words, don't ask the AI to be your calculator. Here's the rule of thumb. Let the math go to your formulas. Let the reading and writing go to AI. We'll come right back to this idea in the guardrails section.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let's get into Excel. Go ahead and open the InvoiceRegister tab in the sample workbook. I'm going to show you three quick moves with Copilot.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first demo. We're in the InvoiceRegister tab, and I'll show you three quick moves. The first one matters most, so watch closely. Before I fix anything, I'm going to ask Copilot to review the data for problems. My prompt tells it to describe what it notices, but not to change anything yet. So I'll paste that in now. Look at everything it caught. The same vendor spelled three different ways. Dates in different formats. A duplicate invoice. A missing amount. Even a credit memo tucked in there. Notice the order. I looked first, and I fixed second. For the second move, I'll build a formula just by describing what I want in plain English. I want to flag any invoice that's due within fifteen days. Copilot writes the formula, I paste it in, and I still check one row to be sure. I'll say that part out loud, because it matters. I always check what it wrote. For the third move, I'll ask Copilot to summarize the whole table without leaving the grid. Totals by cost center, and any vendors that might have duplicate invoices. Here's the point to land. Copilot proposes, but your Power Query steps and formulas are what actually run. And those are your audit trail. If the demo ever hangs, don't wait on it. Just switch to the cleaned version in your solutions file and talk it through.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my favorite part, and it's the newest. Let's switch over to the ExpenseMemos tab. This is the capability most people in the room probably haven't seen yet.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in the ExpenseMemos tab, and each row is a messy, real-sounding expense note. Here's the big idea. The new COPILOT function puts a model right inside a formula. You give it a prompt and a cell, and it returns an answer into the grid. It recalculates like any other function, and it can fill a whole column at once. Let me build a few columns live. First, I'll categorize each memo. Watch that I give it a fixed list of categories to choose from. That one constraint is what makes the answers consistent. Next, I'll pull out the vendor. Then the dollar amount. Then I'll flag any policy concerns for a human to review. While these run, let me be honest about the limits. This is a probabilistic tool, so the answers can shift a little when you run it again. It needs the Copilot license. And it is not a calculator, so the amount column especially needs a human to check it against the receipt. Notice that this is exactly the deterministic versus probabilistic idea from earlier, made real. If it hangs, open the extracted version in your solutions file and read a few of the tricky ones out loud.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for a minute. This next part is what makes finance comfortable using everything we just saw.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five guardrails. If you adopt only these, you can use everything else safely. First, review before you rely. The AI gives you a draft, and a person approves the final number. Second, know when to trust it. Text tasks are fine. Math and totals get verified against your formulas. That's the same idea from earlier. Third, keep an audit trail. Your Power Query steps document themselves, and for a COPILOT cell, just capture the prompt and who reviewed it. Fourth, mind the boundary. Watch your license and your tenant, and don't paste anything sensitive outside your compliance perimeter. Fifth, name a human owner. Every AI-assisted number still has a person's name on it. That never transfers to the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home. I'll give you three things worth trying on Monday, and one clear list of what to leave alone for now.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workflows I'd start with. All three are low-risk, they pay off right away, and they're things you already do every month. First, clean and document an export. Second, extract structure from text, the way we just did with those memos. Third, draft your close narrative and then edit it. Now here's the part people skip, and it's just as important. Be clear about what to leave alone for now. Anything that has to tie to the penny. Journal entries posted straight from AI. And any client or personal data that lives outside your tenant. Knowing what not to automate is exactly what earns you the room to use the rest. And remember, all of this is in your take-home guides. The prompt cheat sheet, the which-tool-when guide, the guardrails checklist, and the first-three-workflows quickstart.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 bonus, and it's here on purpose. If the demos ran quickly and we have time, this is where we spend it. If we're tight, I'll point you to the take-home guide and jump straight to your questions. The topic is how you make Copilot behave like a member of your team instead of a generic assistant. There are three levers, and people mix them up all the time. Let me untangle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levers, and the trick is knowing which one you want. First, custom instructions. Think of these as your house style. You set your preferences once, and Copilot applies them across your workbooks. Formats, naming, how you label a variance. If you want that inside a single file, you can use a rules sheet. Second, Skills. These are saved workflows. You package a task you do all the time, give it a name, and everyone on the team runs it the same way. Third, reference files. This is how you point Copilot at your other data, like last month's close file or your chart of accounts, so it grounds its answer in the real thing. The bottom line is on the screen. Instructions shape how it behaves. Skills save what it does. Reference files give it what to look 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do one quick, light version of this, and I'll keep it short. First, I'll give Copilot a single standing instruction. Something like, always format currency with no decimals and label variances as Favorable or Unfavorable. Then I'll re-run the summary from earlier, and you'll see it follow my format without me asking again. If we have another minute, I'll take the data-quality prompt we used at the very start and save it as a Skill, so next month it's one click instead of retyping. That's the whole idea. You teach it your style and your workflows once, and it stops being generic.</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still time and appetite, here are the natural next steps, and I'll follow the room on which one to open. Python in Excel is the one for forecasting and simulation, and the nice part is that Copilot can write the Python for you. Analyst Agent is great when you want the AI to show its work on a scenario or an exception review. Agent Mode goes further and assembles a coordinated first draft across several sheets, which you then review. And if your team cares about standards, a rules sheet bakes them right into the file. Any one of these could be its own hour, so I'll just take the one you're most curious about.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material, so let's open it up for questions. If it's quiet at first, I'll get us started. Think about this. What's the first workflow you'd try? And what's the one you're not sure is safe yet? And one more reminder. The slides, the sample files, and all four guides are yours to keep.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your time today. I really enjoyed this. Before you go, grab the take-home bundle. You've got the slides, two sample workbooks, and four short guides. I hope you'll open one of them on Monday and try it on your own data. Thanks again, and I'll hand it back to the team at IOFM.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a:effectLst/>
      </p:bgPr>
    </p:bg>
    <p:spTree>
      <p:nvGrpSpPr>
        <p:cNvPr id="1" name=""/>
        <p:cNvGrpSpPr/>
        <p:nvPr/>
      </p:nvGrpSpPr>
      <p:grpSpPr>
        <a:xfrm>
          <a:off x="0" y="0"/>
          <a:ext cx="0" cy="0"/>
          <a:chOff x="0" y="0"/>
          <a:chExt cx="0" cy="0"/>
        </a:xfrm>
      </p:grpSpPr>
      <p:sp>
        <p:nvSpPr>
          <p:cNvPr id="3" name="Text 0"/>
          <p:cNvSpPr/>
          <p:nvPr/>
        </p:nvSpPr>
        <p:spPr>
          <a:xfrm>
            <a:off x="548640" y="1874520"/>
            <a:ext cx="8503920" cy="1737360"/>
          </a:xfrm>
          <a:prstGeom prst="rect">
            <a:avLst/>
          </a:prstGeom>
          <a:noFill/>
          <a:ln/>
        </p:spPr>
        <p:txBody>
          <a:bodyPr wrap="square" rtlCol="0" anchor="t"/>
          <a:lstStyle/>
          <a:p>
            <a:pPr marL="0" indent="0">
              <a:buNone/>
            </a:pPr>
            <a:r>
              <a:rPr lang="en-US" sz="4000" b="1" dirty="0">
                <a:solidFill>
                  <a:srgbClr val="CF3338"/>
                </a:solidFill>
                <a:latin typeface="Arial" pitchFamily="34" charset="0"/>
                <a:ea typeface="Arial" pitchFamily="34" charset="-122"/>
                <a:cs typeface="Arial" pitchFamily="34" charset="-120"/>
              </a:rPr>
              <a:t>AI in Excel for Finance &amp; Accounting Teams</a:t>
            </a:r>
            <a:endParaRPr lang="en-US" sz="4000" dirty="0"/>
          </a:p>
        </p:txBody>
      </p:sp>
      <p:sp>
        <p:nvSpPr>
          <p:cNvPr id="4" name="Text 1"/>
          <p:cNvSpPr/>
          <p:nvPr/>
        </p:nvSpPr>
        <p:spPr>
          <a:xfrm>
            <a:off x="566928" y="3611880"/>
            <a:ext cx="8046720" cy="822960"/>
          </a:xfrm>
          <a:prstGeom prst="rect">
            <a:avLst/>
          </a:prstGeom>
          <a:noFill/>
          <a:ln/>
        </p:spPr>
        <p:txBody>
          <a:bodyPr wrap="square" rtlCol="0" anchor="ctr"/>
          <a:lstStyle/>
          <a:p>
            <a:pPr marL="0" indent="0">
              <a:buNone/>
            </a:pPr>
            <a:r>
              <a:rPr lang="en-US" sz="1600" dirty="0">
                <a:solidFill>
                  <a:srgbClr val="1F2120"/>
                </a:solidFill>
                <a:latin typeface="Arial" pitchFamily="34" charset="0"/>
                <a:ea typeface="Arial" pitchFamily="34" charset="-122"/>
                <a:cs typeface="Arial" pitchFamily="34" charset="-120"/>
              </a:rPr>
              <a:t>A practical, hands-on session. Copilot in the grid, the new AI functions, and the guardrails that keep them audit-ready.</a:t>
            </a:r>
            <a:endParaRPr lang="en-US" sz="1600" dirty="0"/>
          </a:p>
        </p:txBody>
      </p:sp>
      <p:sp>
        <p:nvSpPr>
          <p:cNvPr id="5" name="Text 2"/>
          <p:cNvSpPr/>
          <p:nvPr/>
        </p:nvSpPr>
        <p:spPr>
          <a:xfrm>
            <a:off x="566928" y="5074920"/>
            <a:ext cx="7315200" cy="365760"/>
          </a:xfrm>
          <a:prstGeom prst="rect">
            <a:avLst/>
          </a:prstGeom>
          <a:noFill/>
          <a:ln/>
        </p:spPr>
        <p:txBody>
          <a:bodyPr wrap="square" rtlCol="0" anchor="ctr"/>
          <a:lstStyle/>
          <a:p>
            <a:pPr marL="0" indent="0">
              <a:buNone/>
            </a:pPr>
            <a:r>
              <a:rPr lang="en-US" sz="1500" b="1" dirty="0">
                <a:solidFill>
                  <a:srgbClr val="1F2120"/>
                </a:solidFill>
                <a:latin typeface="Arial" pitchFamily="34" charset="0"/>
                <a:ea typeface="Arial" pitchFamily="34" charset="-122"/>
                <a:cs typeface="Arial" pitchFamily="34" charset="-120"/>
              </a:rPr>
              <a:t>George Mount</a:t>
            </a:r>
            <a:r>
              <a:rPr lang="en-US" sz="1500" dirty="0">
                <a:solidFill>
                  <a:srgbClr val="606060"/>
                </a:solidFill>
                <a:latin typeface="Arial" pitchFamily="34" charset="0"/>
                <a:ea typeface="Arial" pitchFamily="34" charset="-122"/>
                <a:cs typeface="Arial" pitchFamily="34" charset="-120"/>
              </a:rPr>
              <a:t>   ·   Stringfest Analytics</a:t>
            </a:r>
            <a:endParaRPr lang="en-US" sz="1500" dirty="0"/>
          </a:p>
        </p:txBody>
      </p:sp>
      <p:sp>
        <p:nvSpPr>
          <p:cNvPr id="6" name="Text 3"/>
          <p:cNvSpPr/>
          <p:nvPr/>
        </p:nvSpPr>
        <p:spPr>
          <a:xfrm>
            <a:off x="566928" y="5486400"/>
            <a:ext cx="7315200" cy="365760"/>
          </a:xfrm>
          <a:prstGeom prst="rect">
            <a:avLst/>
          </a:prstGeom>
          <a:noFill/>
          <a:ln/>
        </p:spPr>
        <p:txBody>
          <a:bodyPr wrap="square" rtlCol="0" anchor="ctr"/>
          <a:lstStyle/>
          <a:p>
            <a:pPr marL="0" indent="0">
              <a:buNone/>
            </a:pPr>
            <a:r>
              <a:rPr lang="en-US" sz="1300" dirty="0">
                <a:solidFill>
                  <a:srgbClr val="606060"/>
                </a:solidFill>
                <a:latin typeface="Arial" pitchFamily="34" charset="0"/>
                <a:ea typeface="Arial" pitchFamily="34" charset="-122"/>
                <a:cs typeface="Arial" pitchFamily="34" charset="-120"/>
              </a:rPr>
              <a:t>IOFM Webinar   ·   August 10, 2026   ·   2:00 PM ET</a:t>
            </a:r>
            <a:endParaRPr lang="en-US" sz="1300" dirty="0"/>
          </a:p>
        </p:txBody>
      </p:sp>
      <p:pic>
        <p:nvPicPr>
          <p:cNvPr id="7" name="Image 1" descr="assets/iofm.png"/>
          <p:cNvPicPr>
            <a:picLocks noChangeAspect="1"/>
          </p:cNvPicPr>
          <p:nvPr/>
        </p:nvPicPr>
        <p:blipFill>
          <a:blip r:embed="rId3"/>
          <a:stretch>
            <a:fillRect/>
          </a:stretch>
        </p:blipFill>
        <p:spPr>
          <a:xfrm>
            <a:off x="566928" y="5989320"/>
            <a:ext cx="1371600" cy="367589"/>
          </a:xfrm>
          <a:prstGeom prst="rect">
            <a:avLst/>
          </a:prstGeom>
        </p:spPr>
      </p:pic>
      <p:pic>
        <p:nvPicPr>
          <p:cNvPr id="8" name="Image 2" descr="assets/chevron-red.png"/>
          <p:cNvPicPr>
            <a:picLocks noChangeAspect="1"/>
          </p:cNvPicPr>
          <p:nvPr/>
        </p:nvPicPr>
        <p:blipFill>
          <a:blip r:embed="rId4"/>
          <a:stretch>
            <a:fillRect/>
          </a:stretch>
        </p:blipFill>
        <p:spPr>
          <a:xfrm>
            <a:off x="10744200" y="5074920"/>
            <a:ext cx="1417320" cy="16276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822960"/>
          </a:xfrm>
          <a:prstGeom prst="rect">
            <a:avLst/>
          </a:prstGeom>
          <a:noFill/>
          <a:ln/>
        </p:spPr>
        <p:txBody>
          <a:bodyPr wrap="square" rtlCol="0" anchor="ctr"/>
          <a:lstStyle/>
          <a:p>
            <a:pPr marL="0" indent="0">
              <a:buNone/>
            </a:pPr>
            <a:r>
              <a:rPr lang="en-US" sz="3400" b="1" dirty="0">
                <a:solidFill>
                  <a:srgbClr val="FFFFFF"/>
                </a:solidFill>
                <a:latin typeface="Arial" pitchFamily="34" charset="0"/>
                <a:ea typeface="Arial" pitchFamily="34" charset="-122"/>
                <a:cs typeface="Arial" pitchFamily="34" charset="-120"/>
              </a:rPr>
              <a:t>About me</a:t>
            </a:r>
            <a:endParaRPr lang="en-US" sz="3400" dirty="0"/>
          </a:p>
        </p:txBody>
      </p:sp>
      <p:sp>
        <p:nvSpPr>
          <p:cNvPr id="3" name="Text 1"/>
          <p:cNvSpPr/>
          <p:nvPr/>
        </p:nvSpPr>
        <p:spPr>
          <a:xfrm>
            <a:off x="566928" y="1554480"/>
            <a:ext cx="6035040" cy="2926080"/>
          </a:xfrm>
          <a:prstGeom prst="rect">
            <a:avLst/>
          </a:prstGeom>
          <a:noFill/>
          <a:ln/>
        </p:spPr>
        <p:txBody>
          <a:bodyPr wrap="square" rtlCol="0" anchor="t"/>
          <a:lstStyle/>
          <a:p>
            <a:pPr marL="0" indent="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I help finance and Excel teams move from fragile spreadsheets to confident, scalable analysis.</a:t>
            </a:r>
            <a:endParaRPr lang="en-US" sz="1700" dirty="0"/>
          </a:p>
          <a:p>
            <a:pPr marL="0" indent="0">
              <a:lnSpc>
                <a:spcPct val="115000"/>
              </a:lnSpc>
              <a:spcAft>
                <a:spcPts val="1000"/>
              </a:spcAft>
              <a:buNone/>
            </a:pPr>
            <a:r>
              <a:rPr lang="en-US" sz="1700" dirty="0">
                <a:solidFill>
                  <a:srgbClr val="FFFFFF"/>
                </a:solidFill>
                <a:latin typeface="Arial" pitchFamily="34" charset="0"/>
                <a:ea typeface="Arial" pitchFamily="34" charset="-122"/>
                <a:cs typeface="Arial" pitchFamily="34" charset="-120"/>
              </a:rPr>
              <a:t>Author of Modern Data Analytics in Excel and Advancing into Analytics.</a:t>
            </a:r>
            <a:endParaRPr lang="en-US" sz="1700" dirty="0"/>
          </a:p>
          <a:p>
            <a:pPr marL="0" indent="0">
              <a:lnSpc>
                <a:spcPct val="115000"/>
              </a:lnSpc>
              <a:buNone/>
            </a:pPr>
            <a:r>
              <a:rPr lang="en-US" sz="1700" dirty="0">
                <a:solidFill>
                  <a:srgbClr val="FFFFFF"/>
                </a:solidFill>
                <a:latin typeface="Arial" pitchFamily="34" charset="0"/>
                <a:ea typeface="Arial" pitchFamily="34" charset="-122"/>
                <a:cs typeface="Arial" pitchFamily="34" charset="-120"/>
              </a:rPr>
              <a:t>Microsoft MVP, LinkedIn Learning instructor, and founder of Stringfest Analytics.</a:t>
            </a:r>
            <a:endParaRPr lang="en-US" sz="1700" dirty="0"/>
          </a:p>
        </p:txBody>
      </p:sp>
      <p:pic>
        <p:nvPicPr>
          <p:cNvPr id="4" name="Image 0" descr="assets/book1.jpg"/>
          <p:cNvPicPr>
            <a:picLocks noChangeAspect="1"/>
          </p:cNvPicPr>
          <p:nvPr/>
        </p:nvPicPr>
        <p:blipFill>
          <a:blip r:embed="rId3"/>
          <a:stretch>
            <a:fillRect/>
          </a:stretch>
        </p:blipFill>
        <p:spPr>
          <a:xfrm>
            <a:off x="7498080" y="1371600"/>
            <a:ext cx="1874520" cy="2450592"/>
          </a:xfrm>
          <a:prstGeom prst="rect">
            <a:avLst/>
          </a:prstGeom>
        </p:spPr>
      </p:pic>
      <p:pic>
        <p:nvPicPr>
          <p:cNvPr id="5" name="Image 1" descr="assets/book2.jpg"/>
          <p:cNvPicPr>
            <a:picLocks noChangeAspect="1"/>
          </p:cNvPicPr>
          <p:nvPr/>
        </p:nvPicPr>
        <p:blipFill>
          <a:blip r:embed="rId4"/>
          <a:stretch>
            <a:fillRect/>
          </a:stretch>
        </p:blipFill>
        <p:spPr>
          <a:xfrm>
            <a:off x="9555480" y="1371600"/>
            <a:ext cx="1865376" cy="2450592"/>
          </a:xfrm>
          <a:prstGeom prst="rect">
            <a:avLst/>
          </a:prstGeom>
        </p:spPr>
      </p:pic>
      <p:pic>
        <p:nvPicPr>
          <p:cNvPr id="6" name="Image 2" descr="assets/mvp.png"/>
          <p:cNvPicPr>
            <a:picLocks noChangeAspect="1"/>
          </p:cNvPicPr>
          <p:nvPr/>
        </p:nvPicPr>
        <p:blipFill>
          <a:blip r:embed="rId5"/>
          <a:stretch>
            <a:fillRect/>
          </a:stretch>
        </p:blipFill>
        <p:spPr>
          <a:xfrm>
            <a:off x="566928" y="4846320"/>
            <a:ext cx="1737360" cy="696773"/>
          </a:xfrm>
          <a:prstGeom prst="rect">
            <a:avLst/>
          </a:prstGeom>
        </p:spPr>
      </p:pic>
      <p:pic>
        <p:nvPicPr>
          <p:cNvPr id="7" name="Image 3" descr="assets/linkedin.jpg"/>
          <p:cNvPicPr>
            <a:picLocks noChangeAspect="1"/>
          </p:cNvPicPr>
          <p:nvPr/>
        </p:nvPicPr>
        <p:blipFill>
          <a:blip r:embed="rId6"/>
          <a:stretch>
            <a:fillRect/>
          </a:stretch>
        </p:blipFill>
        <p:spPr>
          <a:xfrm>
            <a:off x="2514600" y="4956048"/>
            <a:ext cx="1673352" cy="685800"/>
          </a:xfrm>
          <a:prstGeom prst="rect">
            <a:avLst/>
          </a:prstGeom>
        </p:spPr>
      </p:pic>
      <p:pic>
        <p:nvPicPr>
          <p:cNvPr id="1026" name="Picture 2" descr="Global Excel Summit (9-11 February 2022) - Microsoft Excel Conference">
            <a:extLst>
              <a:ext uri="{FF2B5EF4-FFF2-40B4-BE49-F238E27FC236}">
                <a16:creationId xmlns:a16="http://schemas.microsoft.com/office/drawing/2014/main" id="{4F900C61-96AC-6AAE-D808-F396A32E31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4404131"/>
            <a:ext cx="1581150" cy="1581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What we'll do in the next 45 minutes</a:t>
            </a:r>
            <a:endParaRPr lang="en-US" sz="3200" dirty="0"/>
          </a:p>
        </p:txBody>
      </p:sp>
      <p:sp>
        <p:nvSpPr>
          <p:cNvPr id="3" name="Text 1"/>
          <p:cNvSpPr/>
          <p:nvPr/>
        </p:nvSpPr>
        <p:spPr>
          <a:xfrm>
            <a:off x="640080" y="1572768"/>
            <a:ext cx="566928" cy="566928"/>
          </a:xfrm>
          <a:prstGeom prst="rect">
            <a:avLst/>
          </a:prstGeom>
          <a:solidFill>
            <a:srgbClr val="CF3338"/>
          </a:solidFill>
          <a:ln>
            <a:solidFill>
              <a:srgbClr val="CF3338"/>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4" name="Text 2"/>
          <p:cNvSpPr/>
          <p:nvPr/>
        </p:nvSpPr>
        <p:spPr>
          <a:xfrm>
            <a:off x="1417320" y="1572768"/>
            <a:ext cx="7680960" cy="566928"/>
          </a:xfrm>
          <a:prstGeom prst="rect">
            <a:avLst/>
          </a:prstGeom>
          <a:noFill/>
          <a:ln/>
        </p:spPr>
        <p:txBody>
          <a:bodyPr wrap="square" rtlCol="0" anchor="ctr"/>
          <a:lstStyle/>
          <a:p>
            <a:pPr marL="0" indent="0">
              <a:buNone/>
            </a:pPr>
            <a:r>
              <a:rPr lang="en-US" sz="1900" dirty="0">
                <a:solidFill>
                  <a:srgbClr val="1F2120"/>
                </a:solidFill>
                <a:latin typeface="Arial" pitchFamily="34" charset="0"/>
                <a:ea typeface="Arial" pitchFamily="34" charset="-122"/>
                <a:cs typeface="Arial" pitchFamily="34" charset="-120"/>
              </a:rPr>
              <a:t>Where AI actually fits in a finance workflow</a:t>
            </a:r>
            <a:endParaRPr lang="en-US" sz="1900" dirty="0"/>
          </a:p>
        </p:txBody>
      </p:sp>
      <p:sp>
        <p:nvSpPr>
          <p:cNvPr id="5" name="Text 3"/>
          <p:cNvSpPr/>
          <p:nvPr/>
        </p:nvSpPr>
        <p:spPr>
          <a:xfrm>
            <a:off x="9144000" y="1572768"/>
            <a:ext cx="1554480" cy="566928"/>
          </a:xfrm>
          <a:prstGeom prst="rect">
            <a:avLst/>
          </a:prstGeom>
          <a:noFill/>
          <a:ln/>
        </p:spPr>
        <p:txBody>
          <a:bodyPr wrap="square" rtlCol="0" anchor="ctr"/>
          <a:lstStyle/>
          <a:p>
            <a:pPr marL="0" indent="0" algn="r">
              <a:buNone/>
            </a:pPr>
            <a:r>
              <a:rPr lang="en-US" sz="1600" b="1" dirty="0">
                <a:solidFill>
                  <a:srgbClr val="CF3338"/>
                </a:solidFill>
                <a:latin typeface="Arial" pitchFamily="34" charset="0"/>
                <a:ea typeface="Arial" pitchFamily="34" charset="-122"/>
                <a:cs typeface="Arial" pitchFamily="34" charset="-120"/>
              </a:rPr>
              <a:t>5 min</a:t>
            </a:r>
            <a:endParaRPr lang="en-US" sz="1600" dirty="0"/>
          </a:p>
        </p:txBody>
      </p:sp>
      <p:sp>
        <p:nvSpPr>
          <p:cNvPr id="6" name="Text 4"/>
          <p:cNvSpPr/>
          <p:nvPr/>
        </p:nvSpPr>
        <p:spPr>
          <a:xfrm>
            <a:off x="640080" y="2267712"/>
            <a:ext cx="566928" cy="566928"/>
          </a:xfrm>
          <a:prstGeom prst="rect">
            <a:avLst/>
          </a:prstGeom>
          <a:solidFill>
            <a:srgbClr val="CF3338"/>
          </a:solidFill>
          <a:ln>
            <a:solidFill>
              <a:srgbClr val="CF3338"/>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7" name="Text 5"/>
          <p:cNvSpPr/>
          <p:nvPr/>
        </p:nvSpPr>
        <p:spPr>
          <a:xfrm>
            <a:off x="1417320" y="2267712"/>
            <a:ext cx="7680960" cy="566928"/>
          </a:xfrm>
          <a:prstGeom prst="rect">
            <a:avLst/>
          </a:prstGeom>
          <a:noFill/>
          <a:ln/>
        </p:spPr>
        <p:txBody>
          <a:bodyPr wrap="square" rtlCol="0" anchor="ctr"/>
          <a:lstStyle/>
          <a:p>
            <a:pPr marL="0" indent="0">
              <a:buNone/>
            </a:pPr>
            <a:r>
              <a:rPr lang="en-US" sz="1900" dirty="0">
                <a:solidFill>
                  <a:srgbClr val="1F2120"/>
                </a:solidFill>
                <a:latin typeface="Arial" pitchFamily="34" charset="0"/>
                <a:ea typeface="Arial" pitchFamily="34" charset="-122"/>
                <a:cs typeface="Arial" pitchFamily="34" charset="-120"/>
              </a:rPr>
              <a:t>Copilot in Excel, live</a:t>
            </a:r>
            <a:endParaRPr lang="en-US" sz="1900" dirty="0"/>
          </a:p>
        </p:txBody>
      </p:sp>
      <p:sp>
        <p:nvSpPr>
          <p:cNvPr id="8" name="Text 6"/>
          <p:cNvSpPr/>
          <p:nvPr/>
        </p:nvSpPr>
        <p:spPr>
          <a:xfrm>
            <a:off x="9144000" y="2267712"/>
            <a:ext cx="1554480" cy="566928"/>
          </a:xfrm>
          <a:prstGeom prst="rect">
            <a:avLst/>
          </a:prstGeom>
          <a:noFill/>
          <a:ln/>
        </p:spPr>
        <p:txBody>
          <a:bodyPr wrap="square" rtlCol="0" anchor="ctr"/>
          <a:lstStyle/>
          <a:p>
            <a:pPr marL="0" indent="0" algn="r">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9" name="Text 7"/>
          <p:cNvSpPr/>
          <p:nvPr/>
        </p:nvSpPr>
        <p:spPr>
          <a:xfrm>
            <a:off x="640080" y="2962656"/>
            <a:ext cx="566928" cy="566928"/>
          </a:xfrm>
          <a:prstGeom prst="rect">
            <a:avLst/>
          </a:prstGeom>
          <a:solidFill>
            <a:srgbClr val="CF3338"/>
          </a:solidFill>
          <a:ln>
            <a:solidFill>
              <a:srgbClr val="CF3338"/>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0" name="Text 8"/>
          <p:cNvSpPr/>
          <p:nvPr/>
        </p:nvSpPr>
        <p:spPr>
          <a:xfrm>
            <a:off x="1417320" y="2962656"/>
            <a:ext cx="7680960" cy="566928"/>
          </a:xfrm>
          <a:prstGeom prst="rect">
            <a:avLst/>
          </a:prstGeom>
          <a:noFill/>
          <a:ln/>
        </p:spPr>
        <p:txBody>
          <a:bodyPr wrap="square" rtlCol="0" anchor="ctr"/>
          <a:lstStyle/>
          <a:p>
            <a:pPr marL="0" indent="0">
              <a:buNone/>
            </a:pPr>
            <a:r>
              <a:rPr lang="en-US" sz="1900" dirty="0">
                <a:solidFill>
                  <a:srgbClr val="1F2120"/>
                </a:solidFill>
                <a:latin typeface="Arial" pitchFamily="34" charset="0"/>
                <a:ea typeface="Arial" pitchFamily="34" charset="-122"/>
                <a:cs typeface="Arial" pitchFamily="34" charset="-120"/>
              </a:rPr>
              <a:t>The new AI functions: =COPILOT() and friends</a:t>
            </a:r>
            <a:endParaRPr lang="en-US" sz="1900" dirty="0"/>
          </a:p>
        </p:txBody>
      </p:sp>
      <p:sp>
        <p:nvSpPr>
          <p:cNvPr id="11" name="Text 9"/>
          <p:cNvSpPr/>
          <p:nvPr/>
        </p:nvSpPr>
        <p:spPr>
          <a:xfrm>
            <a:off x="9144000" y="2962656"/>
            <a:ext cx="1554480" cy="566928"/>
          </a:xfrm>
          <a:prstGeom prst="rect">
            <a:avLst/>
          </a:prstGeom>
          <a:noFill/>
          <a:ln/>
        </p:spPr>
        <p:txBody>
          <a:bodyPr wrap="square" rtlCol="0" anchor="ctr"/>
          <a:lstStyle/>
          <a:p>
            <a:pPr marL="0" indent="0" algn="r">
              <a:buNone/>
            </a:pPr>
            <a:r>
              <a:rPr lang="en-US" sz="1600" b="1" dirty="0">
                <a:solidFill>
                  <a:srgbClr val="CF3338"/>
                </a:solidFill>
                <a:latin typeface="Arial" pitchFamily="34" charset="0"/>
                <a:ea typeface="Arial" pitchFamily="34" charset="-122"/>
                <a:cs typeface="Arial" pitchFamily="34" charset="-120"/>
              </a:rPr>
              <a:t>12 min</a:t>
            </a:r>
            <a:endParaRPr lang="en-US" sz="1600" dirty="0"/>
          </a:p>
        </p:txBody>
      </p:sp>
      <p:sp>
        <p:nvSpPr>
          <p:cNvPr id="12" name="Text 10"/>
          <p:cNvSpPr/>
          <p:nvPr/>
        </p:nvSpPr>
        <p:spPr>
          <a:xfrm>
            <a:off x="640080" y="3657600"/>
            <a:ext cx="566928" cy="566928"/>
          </a:xfrm>
          <a:prstGeom prst="rect">
            <a:avLst/>
          </a:prstGeom>
          <a:solidFill>
            <a:srgbClr val="CF3338"/>
          </a:solidFill>
          <a:ln>
            <a:solidFill>
              <a:srgbClr val="CF3338"/>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3" name="Text 11"/>
          <p:cNvSpPr/>
          <p:nvPr/>
        </p:nvSpPr>
        <p:spPr>
          <a:xfrm>
            <a:off x="1417320" y="3657600"/>
            <a:ext cx="7680960" cy="566928"/>
          </a:xfrm>
          <a:prstGeom prst="rect">
            <a:avLst/>
          </a:prstGeom>
          <a:noFill/>
          <a:ln/>
        </p:spPr>
        <p:txBody>
          <a:bodyPr wrap="square" rtlCol="0" anchor="ctr"/>
          <a:lstStyle/>
          <a:p>
            <a:pPr marL="0" indent="0">
              <a:buNone/>
            </a:pPr>
            <a:r>
              <a:rPr lang="en-US" sz="1900" dirty="0">
                <a:solidFill>
                  <a:srgbClr val="1F2120"/>
                </a:solidFill>
                <a:latin typeface="Arial" pitchFamily="34" charset="0"/>
                <a:ea typeface="Arial" pitchFamily="34" charset="-122"/>
                <a:cs typeface="Arial" pitchFamily="34" charset="-120"/>
              </a:rPr>
              <a:t>Guardrails for accounting work</a:t>
            </a:r>
            <a:endParaRPr lang="en-US" sz="1900" dirty="0"/>
          </a:p>
        </p:txBody>
      </p:sp>
      <p:sp>
        <p:nvSpPr>
          <p:cNvPr id="14" name="Text 12"/>
          <p:cNvSpPr/>
          <p:nvPr/>
        </p:nvSpPr>
        <p:spPr>
          <a:xfrm>
            <a:off x="9144000" y="3657600"/>
            <a:ext cx="1554480" cy="566928"/>
          </a:xfrm>
          <a:prstGeom prst="rect">
            <a:avLst/>
          </a:prstGeom>
          <a:noFill/>
          <a:ln/>
        </p:spPr>
        <p:txBody>
          <a:bodyPr wrap="square" rtlCol="0" anchor="ctr"/>
          <a:lstStyle/>
          <a:p>
            <a:pPr marL="0" indent="0" algn="r">
              <a:buNone/>
            </a:pPr>
            <a:r>
              <a:rPr lang="en-US" sz="1600" b="1" dirty="0">
                <a:solidFill>
                  <a:srgbClr val="CF3338"/>
                </a:solidFill>
                <a:latin typeface="Arial" pitchFamily="34" charset="0"/>
                <a:ea typeface="Arial" pitchFamily="34" charset="-122"/>
                <a:cs typeface="Arial" pitchFamily="34" charset="-120"/>
              </a:rPr>
              <a:t>10 min</a:t>
            </a:r>
            <a:endParaRPr lang="en-US" sz="1600" dirty="0"/>
          </a:p>
        </p:txBody>
      </p:sp>
      <p:sp>
        <p:nvSpPr>
          <p:cNvPr id="15" name="Text 13"/>
          <p:cNvSpPr/>
          <p:nvPr/>
        </p:nvSpPr>
        <p:spPr>
          <a:xfrm>
            <a:off x="640080" y="4352544"/>
            <a:ext cx="566928" cy="566928"/>
          </a:xfrm>
          <a:prstGeom prst="rect">
            <a:avLst/>
          </a:prstGeom>
          <a:solidFill>
            <a:srgbClr val="CF3338"/>
          </a:solidFill>
          <a:ln>
            <a:solidFill>
              <a:srgbClr val="CF3338"/>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16" name="Text 14"/>
          <p:cNvSpPr/>
          <p:nvPr/>
        </p:nvSpPr>
        <p:spPr>
          <a:xfrm>
            <a:off x="1417320" y="4352544"/>
            <a:ext cx="7680960" cy="566928"/>
          </a:xfrm>
          <a:prstGeom prst="rect">
            <a:avLst/>
          </a:prstGeom>
          <a:noFill/>
          <a:ln/>
        </p:spPr>
        <p:txBody>
          <a:bodyPr wrap="square" rtlCol="0" anchor="ctr"/>
          <a:lstStyle/>
          <a:p>
            <a:pPr marL="0" indent="0">
              <a:buNone/>
            </a:pPr>
            <a:r>
              <a:rPr lang="en-US" sz="1900" dirty="0">
                <a:solidFill>
                  <a:srgbClr val="1F2120"/>
                </a:solidFill>
                <a:latin typeface="Arial" pitchFamily="34" charset="0"/>
                <a:ea typeface="Arial" pitchFamily="34" charset="-122"/>
                <a:cs typeface="Arial" pitchFamily="34" charset="-120"/>
              </a:rPr>
              <a:t>A practical starting point</a:t>
            </a:r>
            <a:endParaRPr lang="en-US" sz="1900" dirty="0"/>
          </a:p>
        </p:txBody>
      </p:sp>
      <p:sp>
        <p:nvSpPr>
          <p:cNvPr id="17" name="Text 15"/>
          <p:cNvSpPr/>
          <p:nvPr/>
        </p:nvSpPr>
        <p:spPr>
          <a:xfrm>
            <a:off x="9144000" y="4352544"/>
            <a:ext cx="1554480" cy="566928"/>
          </a:xfrm>
          <a:prstGeom prst="rect">
            <a:avLst/>
          </a:prstGeom>
          <a:noFill/>
          <a:ln/>
        </p:spPr>
        <p:txBody>
          <a:bodyPr wrap="square" rtlCol="0" anchor="ctr"/>
          <a:lstStyle/>
          <a:p>
            <a:pPr marL="0" indent="0" algn="r">
              <a:buNone/>
            </a:pPr>
            <a:r>
              <a:rPr lang="en-US" sz="1600" b="1" dirty="0">
                <a:solidFill>
                  <a:srgbClr val="CF3338"/>
                </a:solidFill>
                <a:latin typeface="Arial" pitchFamily="34" charset="0"/>
                <a:ea typeface="Arial" pitchFamily="34" charset="-122"/>
                <a:cs typeface="Arial" pitchFamily="34" charset="-120"/>
              </a:rPr>
              <a:t>6 min</a:t>
            </a:r>
            <a:endParaRPr lang="en-US" sz="1600" dirty="0"/>
          </a:p>
        </p:txBody>
      </p:sp>
      <p:sp>
        <p:nvSpPr>
          <p:cNvPr id="18" name="Text 16"/>
          <p:cNvSpPr/>
          <p:nvPr/>
        </p:nvSpPr>
        <p:spPr>
          <a:xfrm>
            <a:off x="640080" y="5047488"/>
            <a:ext cx="566928" cy="566928"/>
          </a:xfrm>
          <a:prstGeom prst="rect">
            <a:avLst/>
          </a:prstGeom>
          <a:solidFill>
            <a:srgbClr val="A79E8E"/>
          </a:solidFill>
          <a:ln>
            <a:solidFill>
              <a:srgbClr val="A79E8E"/>
            </a:solid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1417320" y="5047488"/>
            <a:ext cx="7680960" cy="566928"/>
          </a:xfrm>
          <a:prstGeom prst="rect">
            <a:avLst/>
          </a:prstGeom>
          <a:noFill/>
          <a:ln/>
        </p:spPr>
        <p:txBody>
          <a:bodyPr wrap="square" rtlCol="0" anchor="ctr"/>
          <a:lstStyle/>
          <a:p>
            <a:pPr marL="0" indent="0">
              <a:buNone/>
            </a:pPr>
            <a:r>
              <a:rPr lang="en-US" sz="1900" i="1" dirty="0">
                <a:solidFill>
                  <a:srgbClr val="606060"/>
                </a:solidFill>
                <a:latin typeface="Arial" pitchFamily="34" charset="0"/>
                <a:ea typeface="Arial" pitchFamily="34" charset="-122"/>
                <a:cs typeface="Arial" pitchFamily="34" charset="-120"/>
              </a:rPr>
              <a:t>Bonus: make Copilot work like your team</a:t>
            </a:r>
            <a:endParaRPr lang="en-US" sz="1900" dirty="0"/>
          </a:p>
        </p:txBody>
      </p:sp>
      <p:sp>
        <p:nvSpPr>
          <p:cNvPr id="20" name="Text 18"/>
          <p:cNvSpPr/>
          <p:nvPr/>
        </p:nvSpPr>
        <p:spPr>
          <a:xfrm>
            <a:off x="9144000" y="5047488"/>
            <a:ext cx="1554480" cy="566928"/>
          </a:xfrm>
          <a:prstGeom prst="rect">
            <a:avLst/>
          </a:prstGeom>
          <a:noFill/>
          <a:ln/>
        </p:spPr>
        <p:txBody>
          <a:bodyPr wrap="square" rtlCol="0" anchor="ctr"/>
          <a:lstStyle/>
          <a:p>
            <a:pPr marL="0" indent="0" algn="r">
              <a:buNone/>
            </a:pPr>
            <a:r>
              <a:rPr lang="en-US" sz="1600" b="1" i="1" dirty="0">
                <a:solidFill>
                  <a:srgbClr val="A79E8E"/>
                </a:solidFill>
                <a:latin typeface="Arial" pitchFamily="34" charset="0"/>
                <a:ea typeface="Arial" pitchFamily="34" charset="-122"/>
                <a:cs typeface="Arial" pitchFamily="34" charset="-120"/>
              </a:rPr>
              <a:t>if time</a:t>
            </a:r>
            <a:endParaRPr lang="en-US" sz="1600" dirty="0"/>
          </a:p>
        </p:txBody>
      </p:sp>
      <p:sp>
        <p:nvSpPr>
          <p:cNvPr id="21" name="Text 19"/>
          <p:cNvSpPr/>
          <p:nvPr/>
        </p:nvSpPr>
        <p:spPr>
          <a:xfrm>
            <a:off x="640080" y="5989320"/>
            <a:ext cx="8229600" cy="365760"/>
          </a:xfrm>
          <a:prstGeom prst="rect">
            <a:avLst/>
          </a:prstGeom>
          <a:noFill/>
          <a:ln/>
        </p:spPr>
        <p:txBody>
          <a:bodyPr wrap="square" rtlCol="0" anchor="ctr"/>
          <a:lstStyle/>
          <a:p>
            <a:pPr marL="0" indent="0">
              <a:buNone/>
            </a:pPr>
            <a:r>
              <a:rPr lang="en-US" sz="1300" i="1" dirty="0">
                <a:solidFill>
                  <a:srgbClr val="606060"/>
                </a:solidFill>
                <a:latin typeface="Arial" pitchFamily="34" charset="0"/>
                <a:ea typeface="Arial" pitchFamily="34" charset="-122"/>
                <a:cs typeface="Arial" pitchFamily="34" charset="-120"/>
              </a:rPr>
              <a:t>Slides, sample files, and take-home guides are yours to keep.</a:t>
            </a:r>
            <a:endParaRPr lang="en-US" sz="1300" dirty="0"/>
          </a:p>
        </p:txBody>
      </p:sp>
      <p:pic>
        <p:nvPicPr>
          <p:cNvPr id="22"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Part 1</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Where AI actually fits in a finance workflow</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5 minutes</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The AI sweet spot</a:t>
            </a:r>
            <a:endParaRPr lang="en-US" sz="3200" dirty="0"/>
          </a:p>
        </p:txBody>
      </p:sp>
      <p:sp>
        <p:nvSpPr>
          <p:cNvPr id="3" name="Shape 1"/>
          <p:cNvSpPr/>
          <p:nvPr/>
        </p:nvSpPr>
        <p:spPr>
          <a:xfrm>
            <a:off x="548640" y="1828800"/>
            <a:ext cx="3566160" cy="3291840"/>
          </a:xfrm>
          <a:prstGeom prst="roundRect">
            <a:avLst>
              <a:gd name="adj" fmla="val 3333"/>
            </a:avLst>
          </a:prstGeom>
          <a:solidFill>
            <a:srgbClr val="EEECE1"/>
          </a:solidFill>
          <a:ln w="12700">
            <a:solidFill>
              <a:srgbClr val="D8D5C8"/>
            </a:solidFill>
            <a:prstDash val="solid"/>
          </a:ln>
        </p:spPr>
        <p:txBody>
          <a:bodyPr/>
          <a:lstStyle/>
          <a:p>
            <a:endParaRPr lang="en-US"/>
          </a:p>
        </p:txBody>
      </p:sp>
      <p:sp>
        <p:nvSpPr>
          <p:cNvPr id="4" name="Text 2"/>
          <p:cNvSpPr/>
          <p:nvPr/>
        </p:nvSpPr>
        <p:spPr>
          <a:xfrm>
            <a:off x="594360" y="2057400"/>
            <a:ext cx="3474720" cy="1280160"/>
          </a:xfrm>
          <a:prstGeom prst="rect">
            <a:avLst/>
          </a:prstGeom>
          <a:noFill/>
          <a:ln/>
        </p:spPr>
        <p:txBody>
          <a:bodyPr wrap="square" rtlCol="0" anchor="t"/>
          <a:lstStyle/>
          <a:p>
            <a:pPr marL="0" indent="0" algn="ctr">
              <a:buNone/>
            </a:pPr>
            <a:r>
              <a:rPr lang="en-US" sz="1900" b="1" dirty="0">
                <a:solidFill>
                  <a:srgbClr val="CF3338"/>
                </a:solidFill>
                <a:latin typeface="Arial" pitchFamily="34" charset="0"/>
                <a:ea typeface="Arial" pitchFamily="34" charset="-122"/>
                <a:cs typeface="Arial" pitchFamily="34" charset="-120"/>
              </a:rPr>
              <a:t>AI without structure</a:t>
            </a:r>
            <a:endParaRPr lang="en-US" sz="1900" dirty="0"/>
          </a:p>
          <a:p>
            <a:pPr marL="0" indent="0" algn="ctr">
              <a:spcAft>
                <a:spcPts val="1000"/>
              </a:spcAft>
              <a:buNone/>
            </a:pPr>
            <a:r>
              <a:rPr lang="en-US" sz="2300" b="1" dirty="0">
                <a:solidFill>
                  <a:srgbClr val="CF3338"/>
                </a:solidFill>
                <a:latin typeface="Arial" pitchFamily="34" charset="0"/>
                <a:ea typeface="Arial" pitchFamily="34" charset="-122"/>
                <a:cs typeface="Arial" pitchFamily="34" charset="-120"/>
              </a:rPr>
              <a:t>= risk</a:t>
            </a:r>
            <a:endParaRPr lang="en-US" sz="1900" dirty="0"/>
          </a:p>
        </p:txBody>
      </p:sp>
      <p:sp>
        <p:nvSpPr>
          <p:cNvPr id="5" name="Text 3"/>
          <p:cNvSpPr/>
          <p:nvPr/>
        </p:nvSpPr>
        <p:spPr>
          <a:xfrm>
            <a:off x="804672" y="3429000"/>
            <a:ext cx="3054096" cy="1463040"/>
          </a:xfrm>
          <a:prstGeom prst="rect">
            <a:avLst/>
          </a:prstGeom>
          <a:noFill/>
          <a:ln/>
        </p:spPr>
        <p:txBody>
          <a:bodyPr wrap="square" rtlCol="0" anchor="t"/>
          <a:lstStyle/>
          <a:p>
            <a:pPr marL="0" indent="0" algn="ctr">
              <a:lnSpc>
                <a:spcPct val="110000"/>
              </a:lnSpc>
              <a:buNone/>
            </a:pPr>
            <a:r>
              <a:rPr lang="en-US" sz="1400" dirty="0">
                <a:solidFill>
                  <a:srgbClr val="1F2120"/>
                </a:solidFill>
                <a:latin typeface="Arial" pitchFamily="34" charset="0"/>
                <a:ea typeface="Arial" pitchFamily="34" charset="-122"/>
                <a:cs typeface="Arial" pitchFamily="34" charset="-120"/>
              </a:rPr>
              <a:t>Pasting messy data into a chat box. No validation, no audit trail, no repeatability.</a:t>
            </a:r>
            <a:endParaRPr lang="en-US" sz="1400" dirty="0"/>
          </a:p>
        </p:txBody>
      </p:sp>
      <p:sp>
        <p:nvSpPr>
          <p:cNvPr id="6" name="Shape 4"/>
          <p:cNvSpPr/>
          <p:nvPr/>
        </p:nvSpPr>
        <p:spPr>
          <a:xfrm>
            <a:off x="4434840" y="1828800"/>
            <a:ext cx="3566160" cy="3291840"/>
          </a:xfrm>
          <a:prstGeom prst="roundRect">
            <a:avLst>
              <a:gd name="adj" fmla="val 3333"/>
            </a:avLst>
          </a:prstGeom>
          <a:solidFill>
            <a:srgbClr val="CF3338"/>
          </a:solidFill>
          <a:ln w="12700">
            <a:solidFill>
              <a:srgbClr val="CF3338"/>
            </a:solidFill>
            <a:prstDash val="solid"/>
          </a:ln>
        </p:spPr>
        <p:txBody>
          <a:bodyPr/>
          <a:lstStyle/>
          <a:p>
            <a:endParaRPr lang="en-US"/>
          </a:p>
        </p:txBody>
      </p:sp>
      <p:sp>
        <p:nvSpPr>
          <p:cNvPr id="7" name="Text 5"/>
          <p:cNvSpPr/>
          <p:nvPr/>
        </p:nvSpPr>
        <p:spPr>
          <a:xfrm>
            <a:off x="4480560" y="2057400"/>
            <a:ext cx="3474720" cy="1280160"/>
          </a:xfrm>
          <a:prstGeom prst="rect">
            <a:avLst/>
          </a:prstGeom>
          <a:noFill/>
          <a:ln/>
        </p:spPr>
        <p:txBody>
          <a:bodyPr wrap="square" rtlCol="0" anchor="t"/>
          <a:lstStyle/>
          <a:p>
            <a:pPr marL="0" indent="0" algn="ctr">
              <a:buNone/>
            </a:pPr>
            <a:r>
              <a:rPr lang="en-US" sz="1900" b="1" dirty="0">
                <a:solidFill>
                  <a:srgbClr val="FFFFFF"/>
                </a:solidFill>
                <a:latin typeface="Arial" pitchFamily="34" charset="0"/>
                <a:ea typeface="Arial" pitchFamily="34" charset="-122"/>
                <a:cs typeface="Arial" pitchFamily="34" charset="-120"/>
              </a:rPr>
              <a:t>AI + Excel's controls</a:t>
            </a:r>
            <a:endParaRPr lang="en-US" sz="1900" dirty="0"/>
          </a:p>
          <a:p>
            <a:pPr marL="0" indent="0" algn="ctr">
              <a:spcAft>
                <a:spcPts val="1000"/>
              </a:spcAft>
              <a:buNone/>
            </a:pPr>
            <a:r>
              <a:rPr lang="en-US" sz="2300" b="1" dirty="0">
                <a:solidFill>
                  <a:srgbClr val="FFFFFF"/>
                </a:solidFill>
                <a:latin typeface="Arial" pitchFamily="34" charset="0"/>
                <a:ea typeface="Arial" pitchFamily="34" charset="-122"/>
                <a:cs typeface="Arial" pitchFamily="34" charset="-120"/>
              </a:rPr>
              <a:t>= leverage</a:t>
            </a:r>
            <a:endParaRPr lang="en-US" sz="1900" dirty="0"/>
          </a:p>
        </p:txBody>
      </p:sp>
      <p:sp>
        <p:nvSpPr>
          <p:cNvPr id="8" name="Text 6"/>
          <p:cNvSpPr/>
          <p:nvPr/>
        </p:nvSpPr>
        <p:spPr>
          <a:xfrm>
            <a:off x="4690872" y="3429000"/>
            <a:ext cx="3054096" cy="1463040"/>
          </a:xfrm>
          <a:prstGeom prst="rect">
            <a:avLst/>
          </a:prstGeom>
          <a:noFill/>
          <a:ln/>
        </p:spPr>
        <p:txBody>
          <a:bodyPr wrap="square" rtlCol="0" anchor="t"/>
          <a:lstStyle/>
          <a:p>
            <a:pPr marL="0" indent="0" algn="ctr">
              <a:lnSpc>
                <a:spcPct val="110000"/>
              </a:lnSpc>
              <a:buNone/>
            </a:pPr>
            <a:r>
              <a:rPr lang="en-US" sz="1400" dirty="0">
                <a:solidFill>
                  <a:srgbClr val="FFFFFF"/>
                </a:solidFill>
                <a:latin typeface="Arial" pitchFamily="34" charset="0"/>
                <a:ea typeface="Arial" pitchFamily="34" charset="-122"/>
                <a:cs typeface="Arial" pitchFamily="34" charset="-120"/>
              </a:rPr>
              <a:t>AI layered on tables, Power Query steps, version history, and review workflows. Speed without losing control.</a:t>
            </a:r>
            <a:endParaRPr lang="en-US" sz="1400" dirty="0"/>
          </a:p>
        </p:txBody>
      </p:sp>
      <p:sp>
        <p:nvSpPr>
          <p:cNvPr id="9" name="Shape 7"/>
          <p:cNvSpPr/>
          <p:nvPr/>
        </p:nvSpPr>
        <p:spPr>
          <a:xfrm>
            <a:off x="8321040" y="1828800"/>
            <a:ext cx="3566160" cy="3291840"/>
          </a:xfrm>
          <a:prstGeom prst="roundRect">
            <a:avLst>
              <a:gd name="adj" fmla="val 3333"/>
            </a:avLst>
          </a:prstGeom>
          <a:solidFill>
            <a:srgbClr val="EEECE1"/>
          </a:solidFill>
          <a:ln w="12700">
            <a:solidFill>
              <a:srgbClr val="D8D5C8"/>
            </a:solidFill>
            <a:prstDash val="solid"/>
          </a:ln>
        </p:spPr>
        <p:txBody>
          <a:bodyPr/>
          <a:lstStyle/>
          <a:p>
            <a:endParaRPr lang="en-US"/>
          </a:p>
        </p:txBody>
      </p:sp>
      <p:sp>
        <p:nvSpPr>
          <p:cNvPr id="10" name="Text 8"/>
          <p:cNvSpPr/>
          <p:nvPr/>
        </p:nvSpPr>
        <p:spPr>
          <a:xfrm>
            <a:off x="8366760" y="2057400"/>
            <a:ext cx="3474720" cy="1280160"/>
          </a:xfrm>
          <a:prstGeom prst="rect">
            <a:avLst/>
          </a:prstGeom>
          <a:noFill/>
          <a:ln/>
        </p:spPr>
        <p:txBody>
          <a:bodyPr wrap="square" rtlCol="0" anchor="t"/>
          <a:lstStyle/>
          <a:p>
            <a:pPr marL="0" indent="0" algn="ctr">
              <a:buNone/>
            </a:pPr>
            <a:r>
              <a:rPr lang="en-US" sz="1900" b="1" dirty="0">
                <a:solidFill>
                  <a:srgbClr val="CF3338"/>
                </a:solidFill>
                <a:latin typeface="Arial" pitchFamily="34" charset="0"/>
                <a:ea typeface="Arial" pitchFamily="34" charset="-122"/>
                <a:cs typeface="Arial" pitchFamily="34" charset="-120"/>
              </a:rPr>
              <a:t>Structure without AI</a:t>
            </a:r>
            <a:endParaRPr lang="en-US" sz="1900" dirty="0"/>
          </a:p>
          <a:p>
            <a:pPr marL="0" indent="0" algn="ctr">
              <a:spcAft>
                <a:spcPts val="1000"/>
              </a:spcAft>
              <a:buNone/>
            </a:pPr>
            <a:r>
              <a:rPr lang="en-US" sz="2300" b="1" dirty="0">
                <a:solidFill>
                  <a:srgbClr val="CF3338"/>
                </a:solidFill>
                <a:latin typeface="Arial" pitchFamily="34" charset="0"/>
                <a:ea typeface="Arial" pitchFamily="34" charset="-122"/>
                <a:cs typeface="Arial" pitchFamily="34" charset="-120"/>
              </a:rPr>
              <a:t>= slow</a:t>
            </a:r>
            <a:endParaRPr lang="en-US" sz="1900" dirty="0"/>
          </a:p>
        </p:txBody>
      </p:sp>
      <p:sp>
        <p:nvSpPr>
          <p:cNvPr id="11" name="Text 9"/>
          <p:cNvSpPr/>
          <p:nvPr/>
        </p:nvSpPr>
        <p:spPr>
          <a:xfrm>
            <a:off x="8577072" y="3429000"/>
            <a:ext cx="3054096" cy="1463040"/>
          </a:xfrm>
          <a:prstGeom prst="rect">
            <a:avLst/>
          </a:prstGeom>
          <a:noFill/>
          <a:ln/>
        </p:spPr>
        <p:txBody>
          <a:bodyPr wrap="square" rtlCol="0" anchor="t"/>
          <a:lstStyle/>
          <a:p>
            <a:pPr marL="0" indent="0" algn="ctr">
              <a:lnSpc>
                <a:spcPct val="110000"/>
              </a:lnSpc>
              <a:buNone/>
            </a:pPr>
            <a:r>
              <a:rPr lang="en-US" sz="1400" dirty="0">
                <a:solidFill>
                  <a:srgbClr val="1F2120"/>
                </a:solidFill>
                <a:latin typeface="Arial" pitchFamily="34" charset="0"/>
                <a:ea typeface="Arial" pitchFamily="34" charset="-122"/>
                <a:cs typeface="Arial" pitchFamily="34" charset="-120"/>
              </a:rPr>
              <a:t>Careful, controlled, all-manual. People copy, check, and reformat instead of thinking.</a:t>
            </a:r>
            <a:endParaRPr lang="en-US" sz="1400" dirty="0"/>
          </a:p>
        </p:txBody>
      </p:sp>
      <p:sp>
        <p:nvSpPr>
          <p:cNvPr id="12" name="Text 10"/>
          <p:cNvSpPr/>
          <p:nvPr/>
        </p:nvSpPr>
        <p:spPr>
          <a:xfrm>
            <a:off x="548640" y="5486400"/>
            <a:ext cx="10881360" cy="640080"/>
          </a:xfrm>
          <a:prstGeom prst="rect">
            <a:avLst/>
          </a:prstGeom>
          <a:noFill/>
          <a:ln/>
        </p:spPr>
        <p:txBody>
          <a:bodyPr wrap="square" rtlCol="0" anchor="ctr"/>
          <a:lstStyle/>
          <a:p>
            <a:pPr marL="0" indent="0" algn="ctr">
              <a:buNone/>
            </a:pPr>
            <a:r>
              <a:rPr lang="en-US" sz="1500" i="1" dirty="0">
                <a:solidFill>
                  <a:srgbClr val="606060"/>
                </a:solidFill>
                <a:latin typeface="Arial" pitchFamily="34" charset="0"/>
                <a:ea typeface="Arial" pitchFamily="34" charset="-122"/>
                <a:cs typeface="Arial" pitchFamily="34" charset="-120"/>
              </a:rPr>
              <a:t>The middle is where you get leverage without giving up control. AI becomes an assistant inside a workflow you already trust.</a:t>
            </a:r>
            <a:endParaRPr lang="en-US" sz="1500" dirty="0"/>
          </a:p>
        </p:txBody>
      </p:sp>
      <p:pic>
        <p:nvPicPr>
          <p:cNvPr id="13"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972800" cy="914400"/>
          </a:xfrm>
          <a:prstGeom prst="rect">
            <a:avLst/>
          </a:prstGeom>
          <a:noFill/>
          <a:ln/>
        </p:spPr>
        <p:txBody>
          <a:bodyPr wrap="square" rtlCol="0" anchor="t"/>
          <a:lstStyle/>
          <a:p>
            <a:pPr marL="0" indent="0" algn="l">
              <a:buNone/>
            </a:pPr>
            <a:r>
              <a:rPr lang="en-US" sz="3000" b="1" dirty="0">
                <a:solidFill>
                  <a:srgbClr val="1F2120"/>
                </a:solidFill>
                <a:latin typeface="Arial" pitchFamily="34" charset="0"/>
                <a:ea typeface="Arial" pitchFamily="34" charset="-122"/>
                <a:cs typeface="Arial" pitchFamily="34" charset="-120"/>
              </a:rPr>
              <a:t>Two kinds of tools: know which one you're holding</a:t>
            </a:r>
            <a:endParaRPr lang="en-US" sz="3000" dirty="0"/>
          </a:p>
        </p:txBody>
      </p:sp>
      <p:sp>
        <p:nvSpPr>
          <p:cNvPr id="3" name="Shape 1"/>
          <p:cNvSpPr/>
          <p:nvPr/>
        </p:nvSpPr>
        <p:spPr>
          <a:xfrm>
            <a:off x="548640" y="1600200"/>
            <a:ext cx="5257800" cy="3383280"/>
          </a:xfrm>
          <a:prstGeom prst="roundRect">
            <a:avLst>
              <a:gd name="adj" fmla="val 2703"/>
            </a:avLst>
          </a:prstGeom>
          <a:solidFill>
            <a:srgbClr val="FFFFFF"/>
          </a:solidFill>
          <a:ln w="12700">
            <a:solidFill>
              <a:srgbClr val="D8D5C8"/>
            </a:solidFill>
            <a:prstDash val="solid"/>
          </a:ln>
        </p:spPr>
        <p:txBody>
          <a:bodyPr/>
          <a:lstStyle/>
          <a:p>
            <a:endParaRPr lang="en-US"/>
          </a:p>
        </p:txBody>
      </p:sp>
      <p:sp>
        <p:nvSpPr>
          <p:cNvPr id="4" name="Text 2"/>
          <p:cNvSpPr/>
          <p:nvPr/>
        </p:nvSpPr>
        <p:spPr>
          <a:xfrm>
            <a:off x="822960" y="1783080"/>
            <a:ext cx="4709160" cy="457200"/>
          </a:xfrm>
          <a:prstGeom prst="rect">
            <a:avLst/>
          </a:prstGeom>
          <a:noFill/>
          <a:ln/>
        </p:spPr>
        <p:txBody>
          <a:bodyPr wrap="square" rtlCol="0" anchor="ctr"/>
          <a:lstStyle/>
          <a:p>
            <a:pPr marL="0" indent="0">
              <a:buNone/>
            </a:pPr>
            <a:r>
              <a:rPr lang="en-US" sz="2000" b="1" dirty="0">
                <a:solidFill>
                  <a:srgbClr val="1F2120"/>
                </a:solidFill>
                <a:latin typeface="Arial" pitchFamily="34" charset="0"/>
                <a:ea typeface="Arial" pitchFamily="34" charset="-122"/>
                <a:cs typeface="Arial" pitchFamily="34" charset="-120"/>
              </a:rPr>
              <a:t>Deterministic</a:t>
            </a:r>
            <a:endParaRPr lang="en-US" sz="2000" dirty="0"/>
          </a:p>
        </p:txBody>
      </p:sp>
      <p:sp>
        <p:nvSpPr>
          <p:cNvPr id="5" name="Text 3"/>
          <p:cNvSpPr/>
          <p:nvPr/>
        </p:nvSpPr>
        <p:spPr>
          <a:xfrm>
            <a:off x="822960" y="2286000"/>
            <a:ext cx="4709160" cy="502920"/>
          </a:xfrm>
          <a:prstGeom prst="rect">
            <a:avLst/>
          </a:prstGeom>
          <a:noFill/>
          <a:ln/>
        </p:spPr>
        <p:txBody>
          <a:bodyPr wrap="square" rtlCol="0" anchor="ctr"/>
          <a:lstStyle/>
          <a:p>
            <a:pPr marL="0" indent="0">
              <a:buNone/>
            </a:pPr>
            <a:r>
              <a:rPr lang="en-US" sz="1400" i="1" dirty="0">
                <a:solidFill>
                  <a:srgbClr val="606060"/>
                </a:solidFill>
                <a:latin typeface="Arial" pitchFamily="34" charset="0"/>
                <a:ea typeface="Arial" pitchFamily="34" charset="-122"/>
                <a:cs typeface="Arial" pitchFamily="34" charset="-120"/>
              </a:rPr>
              <a:t>Same input, same output. Trust the number.</a:t>
            </a:r>
            <a:endParaRPr lang="en-US" sz="1400" dirty="0"/>
          </a:p>
        </p:txBody>
      </p:sp>
      <p:sp>
        <p:nvSpPr>
          <p:cNvPr id="6" name="Text 4"/>
          <p:cNvSpPr/>
          <p:nvPr/>
        </p:nvSpPr>
        <p:spPr>
          <a:xfrm>
            <a:off x="86868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SUM, XLOOKUP, PivotTables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Power Query steps</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Office Scripts &amp; Power Automate</a:t>
            </a:r>
            <a:endParaRPr lang="en-US" sz="1450" dirty="0"/>
          </a:p>
        </p:txBody>
      </p:sp>
      <p:sp>
        <p:nvSpPr>
          <p:cNvPr id="7" name="Text 5"/>
          <p:cNvSpPr/>
          <p:nvPr/>
        </p:nvSpPr>
        <p:spPr>
          <a:xfrm>
            <a:off x="822960" y="4343400"/>
            <a:ext cx="4709160" cy="548640"/>
          </a:xfrm>
          <a:prstGeom prst="rect">
            <a:avLst/>
          </a:prstGeom>
          <a:noFill/>
          <a:ln/>
        </p:spPr>
        <p:txBody>
          <a:bodyPr wrap="square" rtlCol="0" anchor="ctr"/>
          <a:lstStyle/>
          <a:p>
            <a:pPr marL="0" indent="0">
              <a:buNone/>
            </a:pPr>
            <a:r>
              <a:rPr lang="en-US" sz="1400" b="1" dirty="0">
                <a:solidFill>
                  <a:srgbClr val="1F2120"/>
                </a:solidFill>
                <a:latin typeface="Arial" pitchFamily="34" charset="0"/>
                <a:ea typeface="Arial" pitchFamily="34" charset="-122"/>
                <a:cs typeface="Arial" pitchFamily="34" charset="-120"/>
              </a:rPr>
              <a:t>Use for: </a:t>
            </a:r>
            <a:r>
              <a:rPr lang="en-US" sz="1400" dirty="0">
                <a:solidFill>
                  <a:srgbClr val="1F2120"/>
                </a:solidFill>
                <a:latin typeface="Arial" pitchFamily="34" charset="0"/>
                <a:ea typeface="Arial" pitchFamily="34" charset="-122"/>
                <a:cs typeface="Arial" pitchFamily="34" charset="-120"/>
              </a:rPr>
              <a:t>totals, reconciliations, anything that must tie out.</a:t>
            </a:r>
            <a:endParaRPr lang="en-US" sz="1400" dirty="0"/>
          </a:p>
        </p:txBody>
      </p:sp>
      <p:sp>
        <p:nvSpPr>
          <p:cNvPr id="8" name="Shape 6"/>
          <p:cNvSpPr/>
          <p:nvPr/>
        </p:nvSpPr>
        <p:spPr>
          <a:xfrm>
            <a:off x="6355080" y="1600200"/>
            <a:ext cx="5257800" cy="3383280"/>
          </a:xfrm>
          <a:prstGeom prst="roundRect">
            <a:avLst>
              <a:gd name="adj" fmla="val 2703"/>
            </a:avLst>
          </a:prstGeom>
          <a:solidFill>
            <a:srgbClr val="FFFFFF"/>
          </a:solidFill>
          <a:ln w="12700">
            <a:solidFill>
              <a:srgbClr val="D8D5C8"/>
            </a:solidFill>
            <a:prstDash val="solid"/>
          </a:ln>
        </p:spPr>
        <p:txBody>
          <a:bodyPr/>
          <a:lstStyle/>
          <a:p>
            <a:endParaRPr lang="en-US"/>
          </a:p>
        </p:txBody>
      </p:sp>
      <p:sp>
        <p:nvSpPr>
          <p:cNvPr id="9" name="Text 7"/>
          <p:cNvSpPr/>
          <p:nvPr/>
        </p:nvSpPr>
        <p:spPr>
          <a:xfrm>
            <a:off x="6629400" y="1783080"/>
            <a:ext cx="4709160" cy="457200"/>
          </a:xfrm>
          <a:prstGeom prst="rect">
            <a:avLst/>
          </a:prstGeom>
          <a:noFill/>
          <a:ln/>
        </p:spPr>
        <p:txBody>
          <a:bodyPr wrap="square" rtlCol="0" anchor="ctr"/>
          <a:lstStyle/>
          <a:p>
            <a:pPr marL="0" indent="0">
              <a:buNone/>
            </a:pPr>
            <a:r>
              <a:rPr lang="en-US" sz="2000" b="1" dirty="0">
                <a:solidFill>
                  <a:srgbClr val="CF3338"/>
                </a:solidFill>
                <a:latin typeface="Arial" pitchFamily="34" charset="0"/>
                <a:ea typeface="Arial" pitchFamily="34" charset="-122"/>
                <a:cs typeface="Arial" pitchFamily="34" charset="-120"/>
              </a:rPr>
              <a:t>Probabilistic (AI)</a:t>
            </a:r>
            <a:endParaRPr lang="en-US" sz="2000" dirty="0"/>
          </a:p>
        </p:txBody>
      </p:sp>
      <p:sp>
        <p:nvSpPr>
          <p:cNvPr id="10" name="Text 8"/>
          <p:cNvSpPr/>
          <p:nvPr/>
        </p:nvSpPr>
        <p:spPr>
          <a:xfrm>
            <a:off x="6629400" y="2286000"/>
            <a:ext cx="4709160" cy="502920"/>
          </a:xfrm>
          <a:prstGeom prst="rect">
            <a:avLst/>
          </a:prstGeom>
          <a:noFill/>
          <a:ln/>
        </p:spPr>
        <p:txBody>
          <a:bodyPr wrap="square" rtlCol="0" anchor="ctr"/>
          <a:lstStyle/>
          <a:p>
            <a:pPr marL="0" indent="0">
              <a:buNone/>
            </a:pPr>
            <a:r>
              <a:rPr lang="en-US" sz="1400" i="1" dirty="0">
                <a:solidFill>
                  <a:srgbClr val="606060"/>
                </a:solidFill>
                <a:latin typeface="Arial" pitchFamily="34" charset="0"/>
                <a:ea typeface="Arial" pitchFamily="34" charset="-122"/>
                <a:cs typeface="Arial" pitchFamily="34" charset="-120"/>
              </a:rPr>
              <a:t>Same input, output can vary. Review the output.</a:t>
            </a:r>
            <a:endParaRPr lang="en-US" sz="1400" dirty="0"/>
          </a:p>
        </p:txBody>
      </p:sp>
      <p:sp>
        <p:nvSpPr>
          <p:cNvPr id="11" name="Text 9"/>
          <p:cNvSpPr/>
          <p:nvPr/>
        </p:nvSpPr>
        <p:spPr>
          <a:xfrm>
            <a:off x="6675120" y="2834640"/>
            <a:ext cx="4663440" cy="1234440"/>
          </a:xfrm>
          <a:prstGeom prst="rect">
            <a:avLst/>
          </a:prstGeom>
          <a:noFill/>
          <a:ln/>
        </p:spPr>
        <p:txBody>
          <a:bodyPr wrap="square" rtlCol="0" anchor="ctr"/>
          <a:lstStyle/>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Copilot in Excel</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The =COPILOT() function</a:t>
            </a:r>
            <a:endParaRPr lang="en-US" sz="1450" dirty="0"/>
          </a:p>
          <a:p>
            <a:pPr marL="342900" indent="-342900">
              <a:spcAft>
                <a:spcPts val="400"/>
              </a:spcAft>
              <a:buSzPct val="100000"/>
              <a:buChar char="•"/>
            </a:pPr>
            <a:r>
              <a:rPr lang="en-US" sz="1450" dirty="0">
                <a:solidFill>
                  <a:srgbClr val="1F2120"/>
                </a:solidFill>
                <a:latin typeface="Arial" pitchFamily="34" charset="0"/>
                <a:ea typeface="Arial" pitchFamily="34" charset="-122"/>
                <a:cs typeface="Arial" pitchFamily="34" charset="-120"/>
              </a:rPr>
              <a:t>Analyst Agent &amp; Agent Mode</a:t>
            </a:r>
            <a:endParaRPr lang="en-US" sz="1450" dirty="0"/>
          </a:p>
        </p:txBody>
      </p:sp>
      <p:sp>
        <p:nvSpPr>
          <p:cNvPr id="12" name="Text 10"/>
          <p:cNvSpPr/>
          <p:nvPr/>
        </p:nvSpPr>
        <p:spPr>
          <a:xfrm>
            <a:off x="6629400" y="4343400"/>
            <a:ext cx="4709160" cy="548640"/>
          </a:xfrm>
          <a:prstGeom prst="rect">
            <a:avLst/>
          </a:prstGeom>
          <a:noFill/>
          <a:ln/>
        </p:spPr>
        <p:txBody>
          <a:bodyPr wrap="square" rtlCol="0" anchor="ctr"/>
          <a:lstStyle/>
          <a:p>
            <a:pPr marL="0" indent="0">
              <a:buNone/>
            </a:pPr>
            <a:r>
              <a:rPr lang="en-US" sz="1400" b="1" dirty="0">
                <a:solidFill>
                  <a:srgbClr val="CF3338"/>
                </a:solidFill>
                <a:latin typeface="Arial" pitchFamily="34" charset="0"/>
                <a:ea typeface="Arial" pitchFamily="34" charset="-122"/>
                <a:cs typeface="Arial" pitchFamily="34" charset="-120"/>
              </a:rPr>
              <a:t>Use for: </a:t>
            </a:r>
            <a:r>
              <a:rPr lang="en-US" sz="1400" dirty="0">
                <a:solidFill>
                  <a:srgbClr val="1F2120"/>
                </a:solidFill>
                <a:latin typeface="Arial" pitchFamily="34" charset="0"/>
                <a:ea typeface="Arial" pitchFamily="34" charset="-122"/>
                <a:cs typeface="Arial" pitchFamily="34" charset="-120"/>
              </a:rPr>
              <a:t>drafting, classifying, summarizing, extracting from text.</a:t>
            </a:r>
            <a:endParaRPr lang="en-US" sz="1400" dirty="0"/>
          </a:p>
        </p:txBody>
      </p:sp>
      <p:sp>
        <p:nvSpPr>
          <p:cNvPr id="13" name="Text 11"/>
          <p:cNvSpPr/>
          <p:nvPr/>
        </p:nvSpPr>
        <p:spPr>
          <a:xfrm>
            <a:off x="548640" y="5257800"/>
            <a:ext cx="10972800" cy="548640"/>
          </a:xfrm>
          <a:prstGeom prst="rect">
            <a:avLst/>
          </a:prstGeom>
          <a:noFill/>
          <a:ln/>
        </p:spPr>
        <p:txBody>
          <a:bodyPr wrap="square" rtlCol="0" anchor="ctr"/>
          <a:lstStyle/>
          <a:p>
            <a:pPr marL="0" indent="0" algn="ctr">
              <a:buNone/>
            </a:pPr>
            <a:r>
              <a:rPr lang="en-US" sz="1600" b="1" dirty="0">
                <a:solidFill>
                  <a:srgbClr val="CF3338"/>
                </a:solidFill>
                <a:latin typeface="Arial" pitchFamily="34" charset="0"/>
                <a:ea typeface="Arial" pitchFamily="34" charset="-122"/>
                <a:cs typeface="Arial" pitchFamily="34" charset="-120"/>
              </a:rPr>
              <a:t>Rule of thumb:  </a:t>
            </a:r>
            <a:r>
              <a:rPr lang="en-US" sz="1600" dirty="0">
                <a:solidFill>
                  <a:srgbClr val="1F2120"/>
                </a:solidFill>
                <a:latin typeface="Arial" pitchFamily="34" charset="0"/>
                <a:ea typeface="Arial" pitchFamily="34" charset="-122"/>
                <a:cs typeface="Arial" pitchFamily="34" charset="-120"/>
              </a:rPr>
              <a:t>let the deterministic tools do the math, and let AI do the reading and the writing.</a:t>
            </a:r>
            <a:endParaRPr lang="en-US" sz="1600" dirty="0"/>
          </a:p>
        </p:txBody>
      </p:sp>
      <p:pic>
        <p:nvPicPr>
          <p:cNvPr id="14"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Part 2</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Copilot in Excel, live</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txBody>
          <a:bodyPr/>
          <a:lstStyle/>
          <a:p>
            <a:endParaRPr lang="en-US"/>
          </a:p>
        </p:txBody>
      </p:sp>
      <p:pic>
        <p:nvPicPr>
          <p:cNvPr id="3" name="Image 0" descr="assets/chevron-white.png"/>
          <p:cNvPicPr>
            <a:picLocks noChangeAspect="1"/>
          </p:cNvPicPr>
          <p:nvPr/>
        </p:nvPicPr>
        <p:blipFill>
          <a:blip r:embed="rId3"/>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marL="0" indent="0">
              <a:buNone/>
            </a:pPr>
            <a:r>
              <a:rPr lang="en-US" sz="3000" b="1" dirty="0">
                <a:solidFill>
                  <a:srgbClr val="CF3338"/>
                </a:solidFill>
                <a:latin typeface="Arial" pitchFamily="34" charset="0"/>
                <a:ea typeface="Arial" pitchFamily="34" charset="-122"/>
                <a:cs typeface="Arial" pitchFamily="34" charset="-120"/>
              </a:rPr>
              <a:t>Copilot in Excel, live</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1.  </a:t>
            </a:r>
            <a:r>
              <a:rPr lang="en-US" sz="1800" dirty="0">
                <a:solidFill>
                  <a:srgbClr val="1F2120"/>
                </a:solidFill>
                <a:latin typeface="Arial" pitchFamily="34" charset="0"/>
                <a:ea typeface="Arial" pitchFamily="34" charset="-122"/>
                <a:cs typeface="Arial" pitchFamily="34" charset="-120"/>
              </a:rPr>
              <a:t>Clean a messy AP export. Ask Copilot to spot data-quality issues before you fix anything.</a:t>
            </a:r>
            <a:endParaRPr lang="en-US" sz="1800" dirty="0"/>
          </a:p>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2.  </a:t>
            </a:r>
            <a:r>
              <a:rPr lang="en-US" sz="1800" dirty="0">
                <a:solidFill>
                  <a:srgbClr val="1F2120"/>
                </a:solidFill>
                <a:latin typeface="Arial" pitchFamily="34" charset="0"/>
                <a:ea typeface="Arial" pitchFamily="34" charset="-122"/>
                <a:cs typeface="Arial" pitchFamily="34" charset="-120"/>
              </a:rPr>
              <a:t>Build formulas from plain language. Describe the result, and let Copilot write it.</a:t>
            </a:r>
            <a:endParaRPr lang="en-US" sz="1800" dirty="0"/>
          </a:p>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3.  </a:t>
            </a:r>
            <a:r>
              <a:rPr lang="en-US" sz="1800" dirty="0">
                <a:solidFill>
                  <a:srgbClr val="1F2120"/>
                </a:solidFill>
                <a:latin typeface="Arial" pitchFamily="34" charset="0"/>
                <a:ea typeface="Arial" pitchFamily="34" charset="-122"/>
                <a:cs typeface="Arial" pitchFamily="34" charset="-120"/>
              </a:rPr>
              <a:t>Summarize a dataset without leaving the grid. Trends and outliers, right in the sidebar.</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marL="0" indent="0">
              <a:buNone/>
            </a:pPr>
            <a:r>
              <a:rPr lang="en-US" sz="1500" b="1" dirty="0">
                <a:solidFill>
                  <a:srgbClr val="CF3338"/>
                </a:solidFill>
                <a:latin typeface="Arial" pitchFamily="34" charset="0"/>
                <a:ea typeface="Arial" pitchFamily="34" charset="-122"/>
                <a:cs typeface="Arial" pitchFamily="34" charset="-120"/>
              </a:rPr>
              <a:t>Worksheet:  </a:t>
            </a:r>
            <a:r>
              <a:rPr lang="en-US" sz="1500" dirty="0">
                <a:solidFill>
                  <a:srgbClr val="1F2120"/>
                </a:solidFill>
                <a:latin typeface="Courier New" pitchFamily="34" charset="0"/>
                <a:ea typeface="Courier New" pitchFamily="34" charset="-122"/>
                <a:cs typeface="Courier New" pitchFamily="34" charset="-120"/>
              </a:rPr>
              <a:t>InvoiceRegister</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marL="0" indent="0">
              <a:buNone/>
            </a:pPr>
            <a:r>
              <a:rPr lang="en-US" sz="1250" i="1" dirty="0">
                <a:solidFill>
                  <a:srgbClr val="606060"/>
                </a:solidFill>
                <a:latin typeface="Arial" pitchFamily="34" charset="0"/>
                <a:ea typeface="Arial" pitchFamily="34" charset="-122"/>
                <a:cs typeface="Arial" pitchFamily="34" charset="-120"/>
              </a:rPr>
              <a:t>Prompts are in the Prompt Cheat-Sheet. Copilot proposes; you apply and keep the Power Query steps as your audit trail.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Part 3</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The new AI functions: =COPILOT() and friends</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12 minutes</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txBody>
          <a:bodyPr/>
          <a:lstStyle/>
          <a:p>
            <a:endParaRPr lang="en-US"/>
          </a:p>
        </p:txBody>
      </p:sp>
      <p:pic>
        <p:nvPicPr>
          <p:cNvPr id="3" name="Image 0" descr="assets/chevron-white.png"/>
          <p:cNvPicPr>
            <a:picLocks noChangeAspect="1"/>
          </p:cNvPicPr>
          <p:nvPr/>
        </p:nvPicPr>
        <p:blipFill>
          <a:blip r:embed="rId3"/>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marL="0" indent="0">
              <a:buNone/>
            </a:pPr>
            <a:r>
              <a:rPr lang="en-US" sz="3000" b="1" dirty="0">
                <a:solidFill>
                  <a:srgbClr val="CF3338"/>
                </a:solidFill>
                <a:latin typeface="Arial" pitchFamily="34" charset="0"/>
                <a:ea typeface="Arial" pitchFamily="34" charset="-122"/>
                <a:cs typeface="Arial" pitchFamily="34" charset="-120"/>
              </a:rPr>
              <a:t>The new AI functions: =COPILOT()</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1.  </a:t>
            </a:r>
            <a:r>
              <a:rPr lang="en-US" sz="1800" dirty="0">
                <a:solidFill>
                  <a:srgbClr val="1F2120"/>
                </a:solidFill>
                <a:latin typeface="Arial" pitchFamily="34" charset="0"/>
                <a:ea typeface="Arial" pitchFamily="34" charset="-122"/>
                <a:cs typeface="Arial" pitchFamily="34" charset="-120"/>
              </a:rPr>
              <a:t>Pull structure out of unstructured text. Categorize free-text expense memos into clean labels.</a:t>
            </a:r>
            <a:endParaRPr lang="en-US" sz="1800" dirty="0"/>
          </a:p>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2.  </a:t>
            </a:r>
            <a:r>
              <a:rPr lang="en-US" sz="1800" dirty="0">
                <a:solidFill>
                  <a:srgbClr val="1F2120"/>
                </a:solidFill>
                <a:latin typeface="Arial" pitchFamily="34" charset="0"/>
                <a:ea typeface="Arial" pitchFamily="34" charset="-122"/>
                <a:cs typeface="Arial" pitchFamily="34" charset="-120"/>
              </a:rPr>
              <a:t>Extract the vendor and the dollar amount from each memo into their own columns.</a:t>
            </a:r>
            <a:endParaRPr lang="en-US" sz="1800" dirty="0"/>
          </a:p>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3.  </a:t>
            </a:r>
            <a:r>
              <a:rPr lang="en-US" sz="1800" dirty="0">
                <a:solidFill>
                  <a:srgbClr val="1F2120"/>
                </a:solidFill>
                <a:latin typeface="Arial" pitchFamily="34" charset="0"/>
                <a:ea typeface="Arial" pitchFamily="34" charset="-122"/>
                <a:cs typeface="Arial" pitchFamily="34" charset="-120"/>
              </a:rPr>
              <a:t>Flag possible policy concerns for a human to review, not to auto-enforce.</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marL="0" indent="0">
              <a:buNone/>
            </a:pPr>
            <a:r>
              <a:rPr lang="en-US" sz="1500" b="1" dirty="0">
                <a:solidFill>
                  <a:srgbClr val="CF3338"/>
                </a:solidFill>
                <a:latin typeface="Arial" pitchFamily="34" charset="0"/>
                <a:ea typeface="Arial" pitchFamily="34" charset="-122"/>
                <a:cs typeface="Arial" pitchFamily="34" charset="-120"/>
              </a:rPr>
              <a:t>Worksheet:  </a:t>
            </a:r>
            <a:r>
              <a:rPr lang="en-US" sz="1500" dirty="0">
                <a:solidFill>
                  <a:srgbClr val="1F2120"/>
                </a:solidFill>
                <a:latin typeface="Courier New" pitchFamily="34" charset="0"/>
                <a:ea typeface="Courier New" pitchFamily="34" charset="-122"/>
                <a:cs typeface="Courier New" pitchFamily="34" charset="-120"/>
              </a:rPr>
              <a:t>ExpenseMemos</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marL="0" indent="0">
              <a:buNone/>
            </a:pPr>
            <a:r>
              <a:rPr lang="en-US" sz="1250" i="1" dirty="0">
                <a:solidFill>
                  <a:srgbClr val="606060"/>
                </a:solidFill>
                <a:latin typeface="Arial" pitchFamily="34" charset="0"/>
                <a:ea typeface="Arial" pitchFamily="34" charset="-122"/>
                <a:cs typeface="Arial" pitchFamily="34" charset="-120"/>
              </a:rPr>
              <a:t>Requires a Microsoft 365 Copilot license · in rollout, general availability expected end of 2026.</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Part 4</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Guardrails for accounting work</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10 minutes</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Keep it audit-ready</a:t>
            </a:r>
            <a:endParaRPr lang="en-US" sz="3200" dirty="0"/>
          </a:p>
        </p:txBody>
      </p:sp>
      <p:sp>
        <p:nvSpPr>
          <p:cNvPr id="3" name="Shape 1"/>
          <p:cNvSpPr/>
          <p:nvPr/>
        </p:nvSpPr>
        <p:spPr>
          <a:xfrm>
            <a:off x="640080" y="1783080"/>
            <a:ext cx="164592" cy="731520"/>
          </a:xfrm>
          <a:prstGeom prst="rect">
            <a:avLst/>
          </a:prstGeom>
          <a:solidFill>
            <a:srgbClr val="CF3338"/>
          </a:solidFill>
          <a:ln w="12700">
            <a:solidFill>
              <a:srgbClr val="CF3338"/>
            </a:solidFill>
            <a:prstDash val="solid"/>
          </a:ln>
        </p:spPr>
        <p:txBody>
          <a:bodyPr/>
          <a:lstStyle/>
          <a:p>
            <a:endParaRPr lang="en-US"/>
          </a:p>
        </p:txBody>
      </p:sp>
      <p:sp>
        <p:nvSpPr>
          <p:cNvPr id="4" name="Text 2"/>
          <p:cNvSpPr/>
          <p:nvPr/>
        </p:nvSpPr>
        <p:spPr>
          <a:xfrm>
            <a:off x="960120" y="1737360"/>
            <a:ext cx="9509760" cy="82296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Review before you rely   </a:t>
            </a:r>
            <a:r>
              <a:rPr lang="en-US" sz="1450" dirty="0">
                <a:solidFill>
                  <a:srgbClr val="606060"/>
                </a:solidFill>
                <a:latin typeface="Arial" pitchFamily="34" charset="0"/>
                <a:ea typeface="Arial" pitchFamily="34" charset="-122"/>
                <a:cs typeface="Arial" pitchFamily="34" charset="-120"/>
              </a:rPr>
              <a:t>AI output is a draft, not a determination. A person approves every number that leaves the sheet.</a:t>
            </a:r>
            <a:endParaRPr lang="en-US" sz="1700" dirty="0"/>
          </a:p>
        </p:txBody>
      </p:sp>
      <p:sp>
        <p:nvSpPr>
          <p:cNvPr id="5" name="Shape 3"/>
          <p:cNvSpPr/>
          <p:nvPr/>
        </p:nvSpPr>
        <p:spPr>
          <a:xfrm>
            <a:off x="640080" y="2679192"/>
            <a:ext cx="164592" cy="731520"/>
          </a:xfrm>
          <a:prstGeom prst="rect">
            <a:avLst/>
          </a:prstGeom>
          <a:solidFill>
            <a:srgbClr val="CF3338"/>
          </a:solidFill>
          <a:ln w="12700">
            <a:solidFill>
              <a:srgbClr val="CF3338"/>
            </a:solidFill>
            <a:prstDash val="solid"/>
          </a:ln>
        </p:spPr>
        <p:txBody>
          <a:bodyPr/>
          <a:lstStyle/>
          <a:p>
            <a:endParaRPr lang="en-US"/>
          </a:p>
        </p:txBody>
      </p:sp>
      <p:sp>
        <p:nvSpPr>
          <p:cNvPr id="6" name="Text 4"/>
          <p:cNvSpPr/>
          <p:nvPr/>
        </p:nvSpPr>
        <p:spPr>
          <a:xfrm>
            <a:off x="960120" y="2633472"/>
            <a:ext cx="9509760" cy="82296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Know when to trust it   </a:t>
            </a:r>
            <a:r>
              <a:rPr lang="en-US" sz="1450" dirty="0">
                <a:solidFill>
                  <a:srgbClr val="606060"/>
                </a:solidFill>
                <a:latin typeface="Arial" pitchFamily="34" charset="0"/>
                <a:ea typeface="Arial" pitchFamily="34" charset="-122"/>
                <a:cs typeface="Arial" pitchFamily="34" charset="-120"/>
              </a:rPr>
              <a:t>Text tasks like classifying, extracting, and summarizing are fine. Math and totals get verified against formulas in the grid.</a:t>
            </a:r>
            <a:endParaRPr lang="en-US" sz="1700" dirty="0"/>
          </a:p>
        </p:txBody>
      </p:sp>
      <p:sp>
        <p:nvSpPr>
          <p:cNvPr id="7" name="Shape 5"/>
          <p:cNvSpPr/>
          <p:nvPr/>
        </p:nvSpPr>
        <p:spPr>
          <a:xfrm>
            <a:off x="640080" y="3575304"/>
            <a:ext cx="164592" cy="731520"/>
          </a:xfrm>
          <a:prstGeom prst="rect">
            <a:avLst/>
          </a:prstGeom>
          <a:solidFill>
            <a:srgbClr val="CF3338"/>
          </a:solidFill>
          <a:ln w="12700">
            <a:solidFill>
              <a:srgbClr val="CF3338"/>
            </a:solidFill>
            <a:prstDash val="solid"/>
          </a:ln>
        </p:spPr>
        <p:txBody>
          <a:bodyPr/>
          <a:lstStyle/>
          <a:p>
            <a:endParaRPr lang="en-US"/>
          </a:p>
        </p:txBody>
      </p:sp>
      <p:sp>
        <p:nvSpPr>
          <p:cNvPr id="8" name="Text 6"/>
          <p:cNvSpPr/>
          <p:nvPr/>
        </p:nvSpPr>
        <p:spPr>
          <a:xfrm>
            <a:off x="960120" y="3529584"/>
            <a:ext cx="9509760" cy="82296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Keep an audit trail   </a:t>
            </a:r>
            <a:r>
              <a:rPr lang="en-US" sz="1450" dirty="0">
                <a:solidFill>
                  <a:srgbClr val="606060"/>
                </a:solidFill>
                <a:latin typeface="Arial" pitchFamily="34" charset="0"/>
                <a:ea typeface="Arial" pitchFamily="34" charset="-122"/>
                <a:cs typeface="Arial" pitchFamily="34" charset="-120"/>
              </a:rPr>
              <a:t>Capture the prompt, the source range, who reviewed it, and when. The Power Query steps document themselves.</a:t>
            </a:r>
            <a:endParaRPr lang="en-US" sz="1700" dirty="0"/>
          </a:p>
        </p:txBody>
      </p:sp>
      <p:sp>
        <p:nvSpPr>
          <p:cNvPr id="9" name="Shape 7"/>
          <p:cNvSpPr/>
          <p:nvPr/>
        </p:nvSpPr>
        <p:spPr>
          <a:xfrm>
            <a:off x="640080" y="4471416"/>
            <a:ext cx="164592" cy="731520"/>
          </a:xfrm>
          <a:prstGeom prst="rect">
            <a:avLst/>
          </a:prstGeom>
          <a:solidFill>
            <a:srgbClr val="CF3338"/>
          </a:solidFill>
          <a:ln w="12700">
            <a:solidFill>
              <a:srgbClr val="CF3338"/>
            </a:solidFill>
            <a:prstDash val="solid"/>
          </a:ln>
        </p:spPr>
        <p:txBody>
          <a:bodyPr/>
          <a:lstStyle/>
          <a:p>
            <a:endParaRPr lang="en-US"/>
          </a:p>
        </p:txBody>
      </p:sp>
      <p:sp>
        <p:nvSpPr>
          <p:cNvPr id="10" name="Text 8"/>
          <p:cNvSpPr/>
          <p:nvPr/>
        </p:nvSpPr>
        <p:spPr>
          <a:xfrm>
            <a:off x="960120" y="4425696"/>
            <a:ext cx="9509760" cy="82296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Mind the boundary   </a:t>
            </a:r>
            <a:r>
              <a:rPr lang="en-US" sz="1450" dirty="0">
                <a:solidFill>
                  <a:srgbClr val="606060"/>
                </a:solidFill>
                <a:latin typeface="Arial" pitchFamily="34" charset="0"/>
                <a:ea typeface="Arial" pitchFamily="34" charset="-122"/>
                <a:cs typeface="Arial" pitchFamily="34" charset="-120"/>
              </a:rPr>
              <a:t>No data outside your compliance perimeter. Confirm the license and tenant before pasting anything sensitive.</a:t>
            </a:r>
            <a:endParaRPr lang="en-US" sz="1700" dirty="0"/>
          </a:p>
        </p:txBody>
      </p:sp>
      <p:sp>
        <p:nvSpPr>
          <p:cNvPr id="11" name="Shape 9"/>
          <p:cNvSpPr/>
          <p:nvPr/>
        </p:nvSpPr>
        <p:spPr>
          <a:xfrm>
            <a:off x="640080" y="5367528"/>
            <a:ext cx="164592" cy="731520"/>
          </a:xfrm>
          <a:prstGeom prst="rect">
            <a:avLst/>
          </a:prstGeom>
          <a:solidFill>
            <a:srgbClr val="CF3338"/>
          </a:solidFill>
          <a:ln w="12700">
            <a:solidFill>
              <a:srgbClr val="CF3338"/>
            </a:solidFill>
            <a:prstDash val="solid"/>
          </a:ln>
        </p:spPr>
        <p:txBody>
          <a:bodyPr/>
          <a:lstStyle/>
          <a:p>
            <a:endParaRPr lang="en-US"/>
          </a:p>
        </p:txBody>
      </p:sp>
      <p:sp>
        <p:nvSpPr>
          <p:cNvPr id="12" name="Text 10"/>
          <p:cNvSpPr/>
          <p:nvPr/>
        </p:nvSpPr>
        <p:spPr>
          <a:xfrm>
            <a:off x="960120" y="5321808"/>
            <a:ext cx="9509760" cy="82296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Name a human owner   </a:t>
            </a:r>
            <a:r>
              <a:rPr lang="en-US" sz="1450" dirty="0">
                <a:solidFill>
                  <a:srgbClr val="606060"/>
                </a:solidFill>
                <a:latin typeface="Arial" pitchFamily="34" charset="0"/>
                <a:ea typeface="Arial" pitchFamily="34" charset="-122"/>
                <a:cs typeface="Arial" pitchFamily="34" charset="-120"/>
              </a:rPr>
              <a:t>Every AI-assisted figure still has a person's name on it. Ownership doesn't transfer to the model.</a:t>
            </a:r>
            <a:endParaRPr lang="en-US" sz="1700" dirty="0"/>
          </a:p>
        </p:txBody>
      </p:sp>
      <p:pic>
        <p:nvPicPr>
          <p:cNvPr id="13"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Part 5</a:t>
            </a:r>
            <a:endParaRPr lang="en-US" sz="2000" dirty="0"/>
          </a:p>
        </p:txBody>
      </p:sp>
      <p:sp>
        <p:nvSpPr>
          <p:cNvPr id="3" name="Text 1"/>
          <p:cNvSpPr/>
          <p:nvPr/>
        </p:nvSpPr>
        <p:spPr>
          <a:xfrm>
            <a:off x="685800" y="2606040"/>
            <a:ext cx="96012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A practical starting point</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6 minutes</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Start here Monday</a:t>
            </a:r>
            <a:endParaRPr lang="en-US" sz="3200" dirty="0"/>
          </a:p>
        </p:txBody>
      </p:sp>
      <p:sp>
        <p:nvSpPr>
          <p:cNvPr id="3" name="Shape 1"/>
          <p:cNvSpPr/>
          <p:nvPr/>
        </p:nvSpPr>
        <p:spPr>
          <a:xfrm>
            <a:off x="548640" y="1737360"/>
            <a:ext cx="3657600" cy="2743200"/>
          </a:xfrm>
          <a:prstGeom prst="roundRect">
            <a:avLst>
              <a:gd name="adj" fmla="val 3333"/>
            </a:avLst>
          </a:prstGeom>
          <a:solidFill>
            <a:srgbClr val="FFFFFF"/>
          </a:solidFill>
          <a:ln w="12700">
            <a:solidFill>
              <a:srgbClr val="D8D5C8"/>
            </a:solidFill>
            <a:prstDash val="solid"/>
          </a:ln>
        </p:spPr>
        <p:txBody>
          <a:bodyPr/>
          <a:lstStyle/>
          <a:p>
            <a:endParaRPr lang="en-US"/>
          </a:p>
        </p:txBody>
      </p:sp>
      <p:sp>
        <p:nvSpPr>
          <p:cNvPr id="4" name="Text 2"/>
          <p:cNvSpPr/>
          <p:nvPr/>
        </p:nvSpPr>
        <p:spPr>
          <a:xfrm>
            <a:off x="822960" y="1965960"/>
            <a:ext cx="822960" cy="822960"/>
          </a:xfrm>
          <a:prstGeom prst="rect">
            <a:avLst/>
          </a:prstGeom>
          <a:solidFill>
            <a:srgbClr val="CF3338"/>
          </a:solidFill>
          <a:ln>
            <a:solidFill>
              <a:srgbClr val="CF3338"/>
            </a:solid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5" name="Text 3"/>
          <p:cNvSpPr/>
          <p:nvPr/>
        </p:nvSpPr>
        <p:spPr>
          <a:xfrm>
            <a:off x="822960" y="2880360"/>
            <a:ext cx="3108960" cy="640080"/>
          </a:xfrm>
          <a:prstGeom prst="rect">
            <a:avLst/>
          </a:prstGeom>
          <a:noFill/>
          <a:ln/>
        </p:spPr>
        <p:txBody>
          <a:bodyPr wrap="square" rtlCol="0" anchor="t"/>
          <a:lstStyle/>
          <a:p>
            <a:pPr marL="0" indent="0">
              <a:buNone/>
            </a:pPr>
            <a:r>
              <a:rPr lang="en-US" sz="1800" b="1" dirty="0">
                <a:solidFill>
                  <a:srgbClr val="1F2120"/>
                </a:solidFill>
                <a:latin typeface="Arial" pitchFamily="34" charset="0"/>
                <a:ea typeface="Arial" pitchFamily="34" charset="-122"/>
                <a:cs typeface="Arial" pitchFamily="34" charset="-120"/>
              </a:rPr>
              <a:t>Clean &amp; document an export</a:t>
            </a:r>
            <a:endParaRPr lang="en-US" sz="1800" dirty="0"/>
          </a:p>
        </p:txBody>
      </p:sp>
      <p:sp>
        <p:nvSpPr>
          <p:cNvPr id="6" name="Text 4"/>
          <p:cNvSpPr/>
          <p:nvPr/>
        </p:nvSpPr>
        <p:spPr>
          <a:xfrm>
            <a:off x="822960" y="3520440"/>
            <a:ext cx="3154680" cy="868680"/>
          </a:xfrm>
          <a:prstGeom prst="rect">
            <a:avLst/>
          </a:prstGeom>
          <a:noFill/>
          <a:ln/>
        </p:spPr>
        <p:txBody>
          <a:bodyPr wrap="square" rtlCol="0" anchor="t"/>
          <a:lstStyle/>
          <a:p>
            <a:pPr marL="0" indent="0">
              <a:lnSpc>
                <a:spcPct val="105000"/>
              </a:lnSpc>
              <a:buNone/>
            </a:pPr>
            <a:r>
              <a:rPr lang="en-US" sz="1400" dirty="0">
                <a:solidFill>
                  <a:srgbClr val="606060"/>
                </a:solidFill>
                <a:latin typeface="Arial" pitchFamily="34" charset="0"/>
                <a:ea typeface="Arial" pitchFamily="34" charset="-122"/>
                <a:cs typeface="Arial" pitchFamily="34" charset="-120"/>
              </a:rPr>
              <a:t>Copilot spots the issues; Power Query enforces the fix and keeps the steps.</a:t>
            </a:r>
            <a:endParaRPr lang="en-US" sz="1400" dirty="0"/>
          </a:p>
        </p:txBody>
      </p:sp>
      <p:sp>
        <p:nvSpPr>
          <p:cNvPr id="7" name="Shape 5"/>
          <p:cNvSpPr/>
          <p:nvPr/>
        </p:nvSpPr>
        <p:spPr>
          <a:xfrm>
            <a:off x="4325112" y="1737360"/>
            <a:ext cx="3657600" cy="2743200"/>
          </a:xfrm>
          <a:prstGeom prst="roundRect">
            <a:avLst>
              <a:gd name="adj" fmla="val 3333"/>
            </a:avLst>
          </a:prstGeom>
          <a:solidFill>
            <a:srgbClr val="FFFFFF"/>
          </a:solidFill>
          <a:ln w="12700">
            <a:solidFill>
              <a:srgbClr val="D8D5C8"/>
            </a:solidFill>
            <a:prstDash val="solid"/>
          </a:ln>
        </p:spPr>
        <p:txBody>
          <a:bodyPr/>
          <a:lstStyle/>
          <a:p>
            <a:endParaRPr lang="en-US"/>
          </a:p>
        </p:txBody>
      </p:sp>
      <p:sp>
        <p:nvSpPr>
          <p:cNvPr id="8" name="Text 6"/>
          <p:cNvSpPr/>
          <p:nvPr/>
        </p:nvSpPr>
        <p:spPr>
          <a:xfrm>
            <a:off x="4599432" y="1965960"/>
            <a:ext cx="822960" cy="822960"/>
          </a:xfrm>
          <a:prstGeom prst="rect">
            <a:avLst/>
          </a:prstGeom>
          <a:solidFill>
            <a:srgbClr val="CF3338"/>
          </a:solidFill>
          <a:ln>
            <a:solidFill>
              <a:srgbClr val="CF3338"/>
            </a:solid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9" name="Text 7"/>
          <p:cNvSpPr/>
          <p:nvPr/>
        </p:nvSpPr>
        <p:spPr>
          <a:xfrm>
            <a:off x="4599432" y="2880360"/>
            <a:ext cx="3108960" cy="640080"/>
          </a:xfrm>
          <a:prstGeom prst="rect">
            <a:avLst/>
          </a:prstGeom>
          <a:noFill/>
          <a:ln/>
        </p:spPr>
        <p:txBody>
          <a:bodyPr wrap="square" rtlCol="0" anchor="t"/>
          <a:lstStyle/>
          <a:p>
            <a:pPr marL="0" indent="0">
              <a:buNone/>
            </a:pPr>
            <a:r>
              <a:rPr lang="en-US" sz="1800" b="1" dirty="0">
                <a:solidFill>
                  <a:srgbClr val="1F2120"/>
                </a:solidFill>
                <a:latin typeface="Arial" pitchFamily="34" charset="0"/>
                <a:ea typeface="Arial" pitchFamily="34" charset="-122"/>
                <a:cs typeface="Arial" pitchFamily="34" charset="-120"/>
              </a:rPr>
              <a:t>Extract structure from text</a:t>
            </a:r>
            <a:endParaRPr lang="en-US" sz="1800" dirty="0"/>
          </a:p>
        </p:txBody>
      </p:sp>
      <p:sp>
        <p:nvSpPr>
          <p:cNvPr id="10" name="Text 8"/>
          <p:cNvSpPr/>
          <p:nvPr/>
        </p:nvSpPr>
        <p:spPr>
          <a:xfrm>
            <a:off x="4599432" y="3520440"/>
            <a:ext cx="3154680" cy="868680"/>
          </a:xfrm>
          <a:prstGeom prst="rect">
            <a:avLst/>
          </a:prstGeom>
          <a:noFill/>
          <a:ln/>
        </p:spPr>
        <p:txBody>
          <a:bodyPr wrap="square" rtlCol="0" anchor="t"/>
          <a:lstStyle/>
          <a:p>
            <a:pPr marL="0" indent="0">
              <a:lnSpc>
                <a:spcPct val="105000"/>
              </a:lnSpc>
              <a:buNone/>
            </a:pPr>
            <a:r>
              <a:rPr lang="en-US" sz="1400" dirty="0">
                <a:solidFill>
                  <a:srgbClr val="606060"/>
                </a:solidFill>
                <a:latin typeface="Arial" pitchFamily="34" charset="0"/>
                <a:ea typeface="Arial" pitchFamily="34" charset="-122"/>
                <a:cs typeface="Arial" pitchFamily="34" charset="-120"/>
              </a:rPr>
              <a:t>=COPILOT() turns memos, vendor notes, and line descriptions into clean columns.</a:t>
            </a:r>
            <a:endParaRPr lang="en-US" sz="1400" dirty="0"/>
          </a:p>
        </p:txBody>
      </p:sp>
      <p:sp>
        <p:nvSpPr>
          <p:cNvPr id="11" name="Shape 9"/>
          <p:cNvSpPr/>
          <p:nvPr/>
        </p:nvSpPr>
        <p:spPr>
          <a:xfrm>
            <a:off x="8101584" y="1737360"/>
            <a:ext cx="3657600" cy="2743200"/>
          </a:xfrm>
          <a:prstGeom prst="roundRect">
            <a:avLst>
              <a:gd name="adj" fmla="val 3333"/>
            </a:avLst>
          </a:prstGeom>
          <a:solidFill>
            <a:srgbClr val="FFFFFF"/>
          </a:solidFill>
          <a:ln w="12700">
            <a:solidFill>
              <a:srgbClr val="D8D5C8"/>
            </a:solidFill>
            <a:prstDash val="solid"/>
          </a:ln>
        </p:spPr>
        <p:txBody>
          <a:bodyPr/>
          <a:lstStyle/>
          <a:p>
            <a:endParaRPr lang="en-US"/>
          </a:p>
        </p:txBody>
      </p:sp>
      <p:sp>
        <p:nvSpPr>
          <p:cNvPr id="12" name="Text 10"/>
          <p:cNvSpPr/>
          <p:nvPr/>
        </p:nvSpPr>
        <p:spPr>
          <a:xfrm>
            <a:off x="8375904" y="1965960"/>
            <a:ext cx="822960" cy="822960"/>
          </a:xfrm>
          <a:prstGeom prst="rect">
            <a:avLst/>
          </a:prstGeom>
          <a:solidFill>
            <a:srgbClr val="CF3338"/>
          </a:solidFill>
          <a:ln>
            <a:solidFill>
              <a:srgbClr val="CF3338"/>
            </a:solid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3" name="Text 11"/>
          <p:cNvSpPr/>
          <p:nvPr/>
        </p:nvSpPr>
        <p:spPr>
          <a:xfrm>
            <a:off x="8375904" y="2880360"/>
            <a:ext cx="3108960" cy="640080"/>
          </a:xfrm>
          <a:prstGeom prst="rect">
            <a:avLst/>
          </a:prstGeom>
          <a:noFill/>
          <a:ln/>
        </p:spPr>
        <p:txBody>
          <a:bodyPr wrap="square" rtlCol="0" anchor="t"/>
          <a:lstStyle/>
          <a:p>
            <a:pPr marL="0" indent="0">
              <a:buNone/>
            </a:pPr>
            <a:r>
              <a:rPr lang="en-US" sz="1800" b="1" dirty="0">
                <a:solidFill>
                  <a:srgbClr val="1F2120"/>
                </a:solidFill>
                <a:latin typeface="Arial" pitchFamily="34" charset="0"/>
                <a:ea typeface="Arial" pitchFamily="34" charset="-122"/>
                <a:cs typeface="Arial" pitchFamily="34" charset="-120"/>
              </a:rPr>
              <a:t>Draft the close narrative</a:t>
            </a:r>
            <a:endParaRPr lang="en-US" sz="1800" dirty="0"/>
          </a:p>
        </p:txBody>
      </p:sp>
      <p:sp>
        <p:nvSpPr>
          <p:cNvPr id="14" name="Text 12"/>
          <p:cNvSpPr/>
          <p:nvPr/>
        </p:nvSpPr>
        <p:spPr>
          <a:xfrm>
            <a:off x="8375904" y="3520440"/>
            <a:ext cx="3154680" cy="868680"/>
          </a:xfrm>
          <a:prstGeom prst="rect">
            <a:avLst/>
          </a:prstGeom>
          <a:noFill/>
          <a:ln/>
        </p:spPr>
        <p:txBody>
          <a:bodyPr wrap="square" rtlCol="0" anchor="t"/>
          <a:lstStyle/>
          <a:p>
            <a:pPr marL="0" indent="0">
              <a:lnSpc>
                <a:spcPct val="105000"/>
              </a:lnSpc>
              <a:buNone/>
            </a:pPr>
            <a:r>
              <a:rPr lang="en-US" sz="1400" dirty="0">
                <a:solidFill>
                  <a:srgbClr val="606060"/>
                </a:solidFill>
                <a:latin typeface="Arial" pitchFamily="34" charset="0"/>
                <a:ea typeface="Arial" pitchFamily="34" charset="-122"/>
                <a:cs typeface="Arial" pitchFamily="34" charset="-120"/>
              </a:rPr>
              <a:t>Summarize variances into a first draft. You edit, verify, and approve.</a:t>
            </a:r>
            <a:endParaRPr lang="en-US" sz="1400" dirty="0"/>
          </a:p>
        </p:txBody>
      </p:sp>
      <p:sp>
        <p:nvSpPr>
          <p:cNvPr id="15" name="Shape 13"/>
          <p:cNvSpPr/>
          <p:nvPr/>
        </p:nvSpPr>
        <p:spPr>
          <a:xfrm>
            <a:off x="548640" y="4754880"/>
            <a:ext cx="11091672" cy="1051560"/>
          </a:xfrm>
          <a:prstGeom prst="roundRect">
            <a:avLst>
              <a:gd name="adj" fmla="val 6957"/>
            </a:avLst>
          </a:prstGeom>
          <a:solidFill>
            <a:srgbClr val="F3E6E6"/>
          </a:solidFill>
          <a:ln w="12700">
            <a:solidFill>
              <a:srgbClr val="CF3338"/>
            </a:solidFill>
            <a:prstDash val="solid"/>
          </a:ln>
        </p:spPr>
        <p:txBody>
          <a:bodyPr/>
          <a:lstStyle/>
          <a:p>
            <a:endParaRPr lang="en-US"/>
          </a:p>
        </p:txBody>
      </p:sp>
      <p:sp>
        <p:nvSpPr>
          <p:cNvPr id="16" name="Text 14"/>
          <p:cNvSpPr/>
          <p:nvPr/>
        </p:nvSpPr>
        <p:spPr>
          <a:xfrm>
            <a:off x="822960" y="4892040"/>
            <a:ext cx="10515600" cy="777240"/>
          </a:xfrm>
          <a:prstGeom prst="rect">
            <a:avLst/>
          </a:prstGeom>
          <a:noFill/>
          <a:ln/>
        </p:spPr>
        <p:txBody>
          <a:bodyPr wrap="square" rtlCol="0" anchor="ctr"/>
          <a:lstStyle/>
          <a:p>
            <a:pPr marL="0" indent="0">
              <a:buNone/>
            </a:pPr>
            <a:r>
              <a:rPr lang="en-US" sz="1550" b="1" dirty="0">
                <a:solidFill>
                  <a:srgbClr val="CF3338"/>
                </a:solidFill>
                <a:latin typeface="Arial" pitchFamily="34" charset="0"/>
                <a:ea typeface="Arial" pitchFamily="34" charset="-122"/>
                <a:cs typeface="Arial" pitchFamily="34" charset="-120"/>
              </a:rPr>
              <a:t>Leave alone for now:  </a:t>
            </a:r>
            <a:r>
              <a:rPr lang="en-US" sz="1550" dirty="0">
                <a:solidFill>
                  <a:srgbClr val="1F2120"/>
                </a:solidFill>
                <a:latin typeface="Arial" pitchFamily="34" charset="0"/>
                <a:ea typeface="Arial" pitchFamily="34" charset="-122"/>
                <a:cs typeface="Arial" pitchFamily="34" charset="-120"/>
              </a:rPr>
              <a:t>anything that must tie to the penny, journal entries posted straight from AI, and client or PII data outside your tenant.</a:t>
            </a:r>
            <a:endParaRPr lang="en-US" sz="1550" dirty="0"/>
          </a:p>
        </p:txBody>
      </p:sp>
      <p:pic>
        <p:nvPicPr>
          <p:cNvPr id="17"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057400"/>
            <a:ext cx="7315200" cy="548640"/>
          </a:xfrm>
          <a:prstGeom prst="rect">
            <a:avLst/>
          </a:prstGeom>
          <a:noFill/>
          <a:ln/>
        </p:spPr>
        <p:txBody>
          <a:bodyPr wrap="square" rtlCol="0" anchor="ctr"/>
          <a:lstStyle/>
          <a:p>
            <a:pPr marL="0" indent="0">
              <a:buNone/>
            </a:pPr>
            <a:r>
              <a:rPr lang="en-US" sz="2000" b="1" kern="0" spc="200" dirty="0">
                <a:solidFill>
                  <a:srgbClr val="F3B7B9"/>
                </a:solidFill>
                <a:latin typeface="Arial" pitchFamily="34" charset="0"/>
                <a:ea typeface="Arial" pitchFamily="34" charset="-122"/>
                <a:cs typeface="Arial" pitchFamily="34" charset="-120"/>
              </a:rPr>
              <a:t>Bonus</a:t>
            </a:r>
            <a:endParaRPr lang="en-US" sz="2000" dirty="0"/>
          </a:p>
        </p:txBody>
      </p:sp>
      <p:sp>
        <p:nvSpPr>
          <p:cNvPr id="3" name="Text 1"/>
          <p:cNvSpPr/>
          <p:nvPr/>
        </p:nvSpPr>
        <p:spPr>
          <a:xfrm>
            <a:off x="685800" y="2606040"/>
            <a:ext cx="10058400" cy="1828800"/>
          </a:xfrm>
          <a:prstGeom prst="rect">
            <a:avLst/>
          </a:prstGeom>
          <a:noFill/>
          <a:ln/>
        </p:spPr>
        <p:txBody>
          <a:bodyPr wrap="square" rtlCol="0" anchor="t"/>
          <a:lstStyle/>
          <a:p>
            <a:pPr marL="0" indent="0">
              <a:buNone/>
            </a:pPr>
            <a:r>
              <a:rPr lang="en-US" sz="3800" b="1" dirty="0">
                <a:solidFill>
                  <a:srgbClr val="FFFFFF"/>
                </a:solidFill>
                <a:latin typeface="Arial" pitchFamily="34" charset="0"/>
                <a:ea typeface="Arial" pitchFamily="34" charset="-122"/>
                <a:cs typeface="Arial" pitchFamily="34" charset="-120"/>
              </a:rPr>
              <a:t>Make Copilot work like your team</a:t>
            </a:r>
            <a:endParaRPr lang="en-US" sz="3800" dirty="0"/>
          </a:p>
        </p:txBody>
      </p:sp>
      <p:sp>
        <p:nvSpPr>
          <p:cNvPr id="4" name="Text 2"/>
          <p:cNvSpPr/>
          <p:nvPr/>
        </p:nvSpPr>
        <p:spPr>
          <a:xfrm>
            <a:off x="713232" y="4526280"/>
            <a:ext cx="5486400" cy="457200"/>
          </a:xfrm>
          <a:prstGeom prst="rect">
            <a:avLst/>
          </a:prstGeom>
          <a:noFill/>
          <a:ln/>
        </p:spPr>
        <p:txBody>
          <a:bodyPr wrap="square" rtlCol="0" anchor="ctr"/>
          <a:lstStyle/>
          <a:p>
            <a:pPr marL="0" indent="0">
              <a:buNone/>
            </a:pPr>
            <a:r>
              <a:rPr lang="en-US" sz="1800" dirty="0">
                <a:solidFill>
                  <a:srgbClr val="F3B7B9"/>
                </a:solidFill>
                <a:latin typeface="Arial" pitchFamily="34" charset="0"/>
                <a:ea typeface="Arial" pitchFamily="34" charset="-122"/>
                <a:cs typeface="Arial" pitchFamily="34" charset="-120"/>
              </a:rPr>
              <a:t>If we have time</a:t>
            </a:r>
            <a:endParaRPr lang="en-US" sz="1800" dirty="0"/>
          </a:p>
        </p:txBody>
      </p:sp>
      <p:pic>
        <p:nvPicPr>
          <p:cNvPr id="5" name="Image 0" descr="assets/chevron-white.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Three ways to make Copilot yours</a:t>
            </a:r>
            <a:endParaRPr lang="en-US" sz="3200" dirty="0"/>
          </a:p>
        </p:txBody>
      </p:sp>
      <p:sp>
        <p:nvSpPr>
          <p:cNvPr id="3" name="Shape 1"/>
          <p:cNvSpPr/>
          <p:nvPr/>
        </p:nvSpPr>
        <p:spPr>
          <a:xfrm>
            <a:off x="548640" y="1737360"/>
            <a:ext cx="3566160" cy="3657600"/>
          </a:xfrm>
          <a:prstGeom prst="roundRect">
            <a:avLst>
              <a:gd name="adj" fmla="val 2564"/>
            </a:avLst>
          </a:prstGeom>
          <a:solidFill>
            <a:srgbClr val="FFFFFF"/>
          </a:solidFill>
          <a:ln w="12700">
            <a:solidFill>
              <a:srgbClr val="D8D5C8"/>
            </a:solidFill>
            <a:prstDash val="solid"/>
          </a:ln>
        </p:spPr>
        <p:txBody>
          <a:bodyPr/>
          <a:lstStyle/>
          <a:p>
            <a:endParaRPr lang="en-US"/>
          </a:p>
        </p:txBody>
      </p:sp>
      <p:sp>
        <p:nvSpPr>
          <p:cNvPr id="4" name="Text 2"/>
          <p:cNvSpPr/>
          <p:nvPr/>
        </p:nvSpPr>
        <p:spPr>
          <a:xfrm>
            <a:off x="804672" y="1901952"/>
            <a:ext cx="3054096" cy="457200"/>
          </a:xfrm>
          <a:prstGeom prst="rect">
            <a:avLst/>
          </a:prstGeom>
          <a:noFill/>
          <a:ln/>
        </p:spPr>
        <p:txBody>
          <a:bodyPr wrap="square" rtlCol="0" anchor="t"/>
          <a:lstStyle/>
          <a:p>
            <a:pPr marL="0" indent="0">
              <a:buNone/>
            </a:pPr>
            <a:r>
              <a:rPr lang="en-US" sz="1800" b="1" dirty="0">
                <a:solidFill>
                  <a:srgbClr val="CF3338"/>
                </a:solidFill>
                <a:latin typeface="Arial" pitchFamily="34" charset="0"/>
                <a:ea typeface="Arial" pitchFamily="34" charset="-122"/>
                <a:cs typeface="Arial" pitchFamily="34" charset="-120"/>
              </a:rPr>
              <a:t>Custom instructions</a:t>
            </a:r>
            <a:endParaRPr lang="en-US" sz="1800" dirty="0"/>
          </a:p>
        </p:txBody>
      </p:sp>
      <p:sp>
        <p:nvSpPr>
          <p:cNvPr id="5" name="Text 3"/>
          <p:cNvSpPr/>
          <p:nvPr/>
        </p:nvSpPr>
        <p:spPr>
          <a:xfrm>
            <a:off x="804672" y="2359152"/>
            <a:ext cx="3054096" cy="411480"/>
          </a:xfrm>
          <a:prstGeom prst="rect">
            <a:avLst/>
          </a:prstGeom>
          <a:noFill/>
          <a:ln/>
        </p:spPr>
        <p:txBody>
          <a:bodyPr wrap="square" rtlCol="0" anchor="t"/>
          <a:lstStyle/>
          <a:p>
            <a:pPr marL="0" indent="0">
              <a:buNone/>
            </a:pPr>
            <a:r>
              <a:rPr lang="en-US" sz="1350" i="1" dirty="0">
                <a:solidFill>
                  <a:srgbClr val="606060"/>
                </a:solidFill>
                <a:latin typeface="Arial" pitchFamily="34" charset="0"/>
                <a:ea typeface="Arial" pitchFamily="34" charset="-122"/>
                <a:cs typeface="Arial" pitchFamily="34" charset="-120"/>
              </a:rPr>
              <a:t>Your house style, set once.</a:t>
            </a:r>
            <a:endParaRPr lang="en-US" sz="1350" dirty="0"/>
          </a:p>
        </p:txBody>
      </p:sp>
      <p:sp>
        <p:nvSpPr>
          <p:cNvPr id="6" name="Text 4"/>
          <p:cNvSpPr/>
          <p:nvPr/>
        </p:nvSpPr>
        <p:spPr>
          <a:xfrm>
            <a:off x="804672" y="2816352"/>
            <a:ext cx="3054096" cy="1554480"/>
          </a:xfrm>
          <a:prstGeom prst="rect">
            <a:avLst/>
          </a:prstGeom>
          <a:noFill/>
          <a:ln/>
        </p:spPr>
        <p:txBody>
          <a:bodyPr wrap="square" rtlCol="0" anchor="t"/>
          <a:lstStyle/>
          <a:p>
            <a:pPr marL="0" indent="0">
              <a:lnSpc>
                <a:spcPct val="105000"/>
              </a:lnSpc>
              <a:buNone/>
            </a:pPr>
            <a:r>
              <a:rPr lang="en-US" sz="1350" dirty="0">
                <a:solidFill>
                  <a:srgbClr val="1F2120"/>
                </a:solidFill>
                <a:latin typeface="Arial" pitchFamily="34" charset="0"/>
                <a:ea typeface="Arial" pitchFamily="34" charset="-122"/>
                <a:cs typeface="Arial" pitchFamily="34" charset="-120"/>
              </a:rPr>
              <a:t>Standing preferences Copilot applies across workbooks: formats, naming, labels. A .Rules sheet does the same inside one file.</a:t>
            </a:r>
            <a:endParaRPr lang="en-US" sz="1350" dirty="0"/>
          </a:p>
        </p:txBody>
      </p:sp>
      <p:sp>
        <p:nvSpPr>
          <p:cNvPr id="7" name="Text 5"/>
          <p:cNvSpPr/>
          <p:nvPr/>
        </p:nvSpPr>
        <p:spPr>
          <a:xfrm>
            <a:off x="804672" y="4434840"/>
            <a:ext cx="3054096" cy="868680"/>
          </a:xfrm>
          <a:prstGeom prst="rect">
            <a:avLst/>
          </a:prstGeom>
          <a:noFill/>
          <a:ln/>
        </p:spPr>
        <p:txBody>
          <a:bodyPr wrap="square" rtlCol="0" anchor="t"/>
          <a:lstStyle/>
          <a:p>
            <a:pPr marL="0" indent="0">
              <a:lnSpc>
                <a:spcPct val="103000"/>
              </a:lnSpc>
              <a:buNone/>
            </a:pPr>
            <a:r>
              <a:rPr lang="en-US" sz="1200" dirty="0">
                <a:solidFill>
                  <a:srgbClr val="606060"/>
                </a:solidFill>
                <a:latin typeface="Arial" pitchFamily="34" charset="0"/>
                <a:ea typeface="Arial" pitchFamily="34" charset="-122"/>
                <a:cs typeface="Arial" pitchFamily="34" charset="-120"/>
              </a:rPr>
              <a:t>e.g. “Format currency as $#,##0, label variances Favorable or Unfavorable, never overwrite source.”</a:t>
            </a:r>
            <a:endParaRPr lang="en-US" sz="1200" dirty="0"/>
          </a:p>
        </p:txBody>
      </p:sp>
      <p:sp>
        <p:nvSpPr>
          <p:cNvPr id="8" name="Shape 6"/>
          <p:cNvSpPr/>
          <p:nvPr/>
        </p:nvSpPr>
        <p:spPr>
          <a:xfrm>
            <a:off x="4434840" y="1737360"/>
            <a:ext cx="3566160" cy="3657600"/>
          </a:xfrm>
          <a:prstGeom prst="roundRect">
            <a:avLst>
              <a:gd name="adj" fmla="val 2564"/>
            </a:avLst>
          </a:prstGeom>
          <a:solidFill>
            <a:srgbClr val="FFFFFF"/>
          </a:solidFill>
          <a:ln w="12700">
            <a:solidFill>
              <a:srgbClr val="D8D5C8"/>
            </a:solidFill>
            <a:prstDash val="solid"/>
          </a:ln>
        </p:spPr>
        <p:txBody>
          <a:bodyPr/>
          <a:lstStyle/>
          <a:p>
            <a:endParaRPr lang="en-US"/>
          </a:p>
        </p:txBody>
      </p:sp>
      <p:sp>
        <p:nvSpPr>
          <p:cNvPr id="9" name="Text 7"/>
          <p:cNvSpPr/>
          <p:nvPr/>
        </p:nvSpPr>
        <p:spPr>
          <a:xfrm>
            <a:off x="4690872" y="1901952"/>
            <a:ext cx="3054096" cy="457200"/>
          </a:xfrm>
          <a:prstGeom prst="rect">
            <a:avLst/>
          </a:prstGeom>
          <a:noFill/>
          <a:ln/>
        </p:spPr>
        <p:txBody>
          <a:bodyPr wrap="square" rtlCol="0" anchor="t"/>
          <a:lstStyle/>
          <a:p>
            <a:pPr marL="0" indent="0">
              <a:buNone/>
            </a:pPr>
            <a:r>
              <a:rPr lang="en-US" sz="1800" b="1" dirty="0">
                <a:solidFill>
                  <a:srgbClr val="CF3338"/>
                </a:solidFill>
                <a:latin typeface="Arial" pitchFamily="34" charset="0"/>
                <a:ea typeface="Arial" pitchFamily="34" charset="-122"/>
                <a:cs typeface="Arial" pitchFamily="34" charset="-120"/>
              </a:rPr>
              <a:t>Skills</a:t>
            </a:r>
            <a:endParaRPr lang="en-US" sz="1800" dirty="0"/>
          </a:p>
        </p:txBody>
      </p:sp>
      <p:sp>
        <p:nvSpPr>
          <p:cNvPr id="10" name="Text 8"/>
          <p:cNvSpPr/>
          <p:nvPr/>
        </p:nvSpPr>
        <p:spPr>
          <a:xfrm>
            <a:off x="4690872" y="2359152"/>
            <a:ext cx="3054096" cy="411480"/>
          </a:xfrm>
          <a:prstGeom prst="rect">
            <a:avLst/>
          </a:prstGeom>
          <a:noFill/>
          <a:ln/>
        </p:spPr>
        <p:txBody>
          <a:bodyPr wrap="square" rtlCol="0" anchor="t"/>
          <a:lstStyle/>
          <a:p>
            <a:pPr marL="0" indent="0">
              <a:buNone/>
            </a:pPr>
            <a:r>
              <a:rPr lang="en-US" sz="1350" i="1" dirty="0">
                <a:solidFill>
                  <a:srgbClr val="606060"/>
                </a:solidFill>
                <a:latin typeface="Arial" pitchFamily="34" charset="0"/>
                <a:ea typeface="Arial" pitchFamily="34" charset="-122"/>
                <a:cs typeface="Arial" pitchFamily="34" charset="-120"/>
              </a:rPr>
              <a:t>Saved workflows you reuse.</a:t>
            </a:r>
            <a:endParaRPr lang="en-US" sz="1350" dirty="0"/>
          </a:p>
        </p:txBody>
      </p:sp>
      <p:sp>
        <p:nvSpPr>
          <p:cNvPr id="11" name="Text 9"/>
          <p:cNvSpPr/>
          <p:nvPr/>
        </p:nvSpPr>
        <p:spPr>
          <a:xfrm>
            <a:off x="4690872" y="2816352"/>
            <a:ext cx="3054096" cy="1554480"/>
          </a:xfrm>
          <a:prstGeom prst="rect">
            <a:avLst/>
          </a:prstGeom>
          <a:noFill/>
          <a:ln/>
        </p:spPr>
        <p:txBody>
          <a:bodyPr wrap="square" rtlCol="0" anchor="t"/>
          <a:lstStyle/>
          <a:p>
            <a:pPr marL="0" indent="0">
              <a:lnSpc>
                <a:spcPct val="105000"/>
              </a:lnSpc>
              <a:buNone/>
            </a:pPr>
            <a:r>
              <a:rPr lang="en-US" sz="1350" dirty="0">
                <a:solidFill>
                  <a:srgbClr val="1F2120"/>
                </a:solidFill>
                <a:latin typeface="Arial" pitchFamily="34" charset="0"/>
                <a:ea typeface="Arial" pitchFamily="34" charset="-122"/>
                <a:cs typeface="Arial" pitchFamily="34" charset="-120"/>
              </a:rPr>
              <a:t>Package a repeatable task, then invoke it by name so the whole team runs it the same way.</a:t>
            </a:r>
            <a:endParaRPr lang="en-US" sz="1350" dirty="0"/>
          </a:p>
        </p:txBody>
      </p:sp>
      <p:sp>
        <p:nvSpPr>
          <p:cNvPr id="12" name="Text 10"/>
          <p:cNvSpPr/>
          <p:nvPr/>
        </p:nvSpPr>
        <p:spPr>
          <a:xfrm>
            <a:off x="4690872" y="4434840"/>
            <a:ext cx="3054096" cy="868680"/>
          </a:xfrm>
          <a:prstGeom prst="rect">
            <a:avLst/>
          </a:prstGeom>
          <a:noFill/>
          <a:ln/>
        </p:spPr>
        <p:txBody>
          <a:bodyPr wrap="square" rtlCol="0" anchor="t"/>
          <a:lstStyle/>
          <a:p>
            <a:pPr marL="0" indent="0">
              <a:lnSpc>
                <a:spcPct val="103000"/>
              </a:lnSpc>
              <a:buNone/>
            </a:pPr>
            <a:r>
              <a:rPr lang="en-US" sz="1200" dirty="0">
                <a:solidFill>
                  <a:srgbClr val="606060"/>
                </a:solidFill>
                <a:latin typeface="Arial" pitchFamily="34" charset="0"/>
                <a:ea typeface="Arial" pitchFamily="34" charset="-122"/>
                <a:cs typeface="Arial" pitchFamily="34" charset="-120"/>
              </a:rPr>
              <a:t>e.g. a “Monthly variance review” skill everyone can call.</a:t>
            </a:r>
            <a:endParaRPr lang="en-US" sz="1200" dirty="0"/>
          </a:p>
        </p:txBody>
      </p:sp>
      <p:sp>
        <p:nvSpPr>
          <p:cNvPr id="13" name="Shape 11"/>
          <p:cNvSpPr/>
          <p:nvPr/>
        </p:nvSpPr>
        <p:spPr>
          <a:xfrm>
            <a:off x="8321040" y="1737360"/>
            <a:ext cx="3566160" cy="3657600"/>
          </a:xfrm>
          <a:prstGeom prst="roundRect">
            <a:avLst>
              <a:gd name="adj" fmla="val 2564"/>
            </a:avLst>
          </a:prstGeom>
          <a:solidFill>
            <a:srgbClr val="FFFFFF"/>
          </a:solidFill>
          <a:ln w="12700">
            <a:solidFill>
              <a:srgbClr val="D8D5C8"/>
            </a:solidFill>
            <a:prstDash val="solid"/>
          </a:ln>
        </p:spPr>
        <p:txBody>
          <a:bodyPr/>
          <a:lstStyle/>
          <a:p>
            <a:endParaRPr lang="en-US"/>
          </a:p>
        </p:txBody>
      </p:sp>
      <p:sp>
        <p:nvSpPr>
          <p:cNvPr id="14" name="Text 12"/>
          <p:cNvSpPr/>
          <p:nvPr/>
        </p:nvSpPr>
        <p:spPr>
          <a:xfrm>
            <a:off x="8577072" y="1901952"/>
            <a:ext cx="3054096" cy="457200"/>
          </a:xfrm>
          <a:prstGeom prst="rect">
            <a:avLst/>
          </a:prstGeom>
          <a:noFill/>
          <a:ln/>
        </p:spPr>
        <p:txBody>
          <a:bodyPr wrap="square" rtlCol="0" anchor="t"/>
          <a:lstStyle/>
          <a:p>
            <a:pPr marL="0" indent="0">
              <a:buNone/>
            </a:pPr>
            <a:r>
              <a:rPr lang="en-US" sz="1800" b="1" dirty="0">
                <a:solidFill>
                  <a:srgbClr val="CF3338"/>
                </a:solidFill>
                <a:latin typeface="Arial" pitchFamily="34" charset="0"/>
                <a:ea typeface="Arial" pitchFamily="34" charset="-122"/>
                <a:cs typeface="Arial" pitchFamily="34" charset="-120"/>
              </a:rPr>
              <a:t>Reference files</a:t>
            </a:r>
            <a:endParaRPr lang="en-US" sz="1800" dirty="0"/>
          </a:p>
        </p:txBody>
      </p:sp>
      <p:sp>
        <p:nvSpPr>
          <p:cNvPr id="15" name="Text 13"/>
          <p:cNvSpPr/>
          <p:nvPr/>
        </p:nvSpPr>
        <p:spPr>
          <a:xfrm>
            <a:off x="8577072" y="2359152"/>
            <a:ext cx="3054096" cy="411480"/>
          </a:xfrm>
          <a:prstGeom prst="rect">
            <a:avLst/>
          </a:prstGeom>
          <a:noFill/>
          <a:ln/>
        </p:spPr>
        <p:txBody>
          <a:bodyPr wrap="square" rtlCol="0" anchor="t"/>
          <a:lstStyle/>
          <a:p>
            <a:pPr marL="0" indent="0">
              <a:buNone/>
            </a:pPr>
            <a:r>
              <a:rPr lang="en-US" sz="1350" i="1" dirty="0">
                <a:solidFill>
                  <a:srgbClr val="606060"/>
                </a:solidFill>
                <a:latin typeface="Arial" pitchFamily="34" charset="0"/>
                <a:ea typeface="Arial" pitchFamily="34" charset="-122"/>
                <a:cs typeface="Arial" pitchFamily="34" charset="-120"/>
              </a:rPr>
              <a:t>Point it at your other data.</a:t>
            </a:r>
            <a:endParaRPr lang="en-US" sz="1350" dirty="0"/>
          </a:p>
        </p:txBody>
      </p:sp>
      <p:sp>
        <p:nvSpPr>
          <p:cNvPr id="16" name="Text 14"/>
          <p:cNvSpPr/>
          <p:nvPr/>
        </p:nvSpPr>
        <p:spPr>
          <a:xfrm>
            <a:off x="8577072" y="2816352"/>
            <a:ext cx="3054096" cy="1554480"/>
          </a:xfrm>
          <a:prstGeom prst="rect">
            <a:avLst/>
          </a:prstGeom>
          <a:noFill/>
          <a:ln/>
        </p:spPr>
        <p:txBody>
          <a:bodyPr wrap="square" rtlCol="0" anchor="t"/>
          <a:lstStyle/>
          <a:p>
            <a:pPr marL="0" indent="0">
              <a:lnSpc>
                <a:spcPct val="105000"/>
              </a:lnSpc>
              <a:buNone/>
            </a:pPr>
            <a:r>
              <a:rPr lang="en-US" sz="1350" dirty="0">
                <a:solidFill>
                  <a:srgbClr val="1F2120"/>
                </a:solidFill>
                <a:latin typeface="Arial" pitchFamily="34" charset="0"/>
                <a:ea typeface="Arial" pitchFamily="34" charset="-122"/>
                <a:cs typeface="Arial" pitchFamily="34" charset="-120"/>
              </a:rPr>
              <a:t>Ground Copilot in other workbooks or files through the file picker: OneDrive, SharePoint, or your PC.</a:t>
            </a:r>
            <a:endParaRPr lang="en-US" sz="1350" dirty="0"/>
          </a:p>
        </p:txBody>
      </p:sp>
      <p:sp>
        <p:nvSpPr>
          <p:cNvPr id="17" name="Text 15"/>
          <p:cNvSpPr/>
          <p:nvPr/>
        </p:nvSpPr>
        <p:spPr>
          <a:xfrm>
            <a:off x="8577072" y="4434840"/>
            <a:ext cx="3054096" cy="868680"/>
          </a:xfrm>
          <a:prstGeom prst="rect">
            <a:avLst/>
          </a:prstGeom>
          <a:noFill/>
          <a:ln/>
        </p:spPr>
        <p:txBody>
          <a:bodyPr wrap="square" rtlCol="0" anchor="t"/>
          <a:lstStyle/>
          <a:p>
            <a:pPr marL="0" indent="0">
              <a:lnSpc>
                <a:spcPct val="103000"/>
              </a:lnSpc>
              <a:buNone/>
            </a:pPr>
            <a:r>
              <a:rPr lang="en-US" sz="1200" dirty="0">
                <a:solidFill>
                  <a:srgbClr val="606060"/>
                </a:solidFill>
                <a:latin typeface="Arial" pitchFamily="34" charset="0"/>
                <a:ea typeface="Arial" pitchFamily="34" charset="-122"/>
                <a:cs typeface="Arial" pitchFamily="34" charset="-120"/>
              </a:rPr>
              <a:t>e.g. last month’s close file, or your chart-of-accounts mapping.</a:t>
            </a:r>
            <a:endParaRPr lang="en-US" sz="1200" dirty="0"/>
          </a:p>
        </p:txBody>
      </p:sp>
      <p:sp>
        <p:nvSpPr>
          <p:cNvPr id="18" name="Text 16"/>
          <p:cNvSpPr/>
          <p:nvPr/>
        </p:nvSpPr>
        <p:spPr>
          <a:xfrm>
            <a:off x="548640" y="5577840"/>
            <a:ext cx="10972800" cy="548640"/>
          </a:xfrm>
          <a:prstGeom prst="rect">
            <a:avLst/>
          </a:prstGeom>
          <a:noFill/>
          <a:ln/>
        </p:spPr>
        <p:txBody>
          <a:bodyPr wrap="square" rtlCol="0" anchor="ctr"/>
          <a:lstStyle/>
          <a:p>
            <a:pPr marL="0" indent="0" algn="ctr">
              <a:buNone/>
            </a:pPr>
            <a:r>
              <a:rPr lang="en-US" sz="1500" b="1" dirty="0">
                <a:solidFill>
                  <a:srgbClr val="CF3338"/>
                </a:solidFill>
                <a:latin typeface="Arial" pitchFamily="34" charset="0"/>
                <a:ea typeface="Arial" pitchFamily="34" charset="-122"/>
                <a:cs typeface="Arial" pitchFamily="34" charset="-120"/>
              </a:rPr>
              <a:t>Bottom line:  </a:t>
            </a:r>
            <a:r>
              <a:rPr lang="en-US" sz="1500" dirty="0">
                <a:solidFill>
                  <a:srgbClr val="1F2120"/>
                </a:solidFill>
                <a:latin typeface="Arial" pitchFamily="34" charset="0"/>
                <a:ea typeface="Arial" pitchFamily="34" charset="-122"/>
                <a:cs typeface="Arial" pitchFamily="34" charset="-120"/>
              </a:rPr>
              <a:t>instructions shape how it behaves, Skills save what it does, and reference files give it what to look at.</a:t>
            </a:r>
            <a:endParaRPr lang="en-US" sz="1500" dirty="0"/>
          </a:p>
        </p:txBody>
      </p:sp>
      <p:pic>
        <p:nvPicPr>
          <p:cNvPr id="19"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8229600" y="0"/>
            <a:ext cx="3962095" cy="6858000"/>
          </a:xfrm>
          <a:prstGeom prst="rect">
            <a:avLst/>
          </a:prstGeom>
          <a:solidFill>
            <a:srgbClr val="CF3338"/>
          </a:solidFill>
          <a:ln w="12700">
            <a:solidFill>
              <a:srgbClr val="CF3338"/>
            </a:solidFill>
            <a:prstDash val="solid"/>
          </a:ln>
        </p:spPr>
        <p:txBody>
          <a:bodyPr/>
          <a:lstStyle/>
          <a:p>
            <a:endParaRPr lang="en-US"/>
          </a:p>
        </p:txBody>
      </p:sp>
      <p:pic>
        <p:nvPicPr>
          <p:cNvPr id="3" name="Image 0" descr="assets/chevron-white.png"/>
          <p:cNvPicPr>
            <a:picLocks noChangeAspect="1"/>
          </p:cNvPicPr>
          <p:nvPr/>
        </p:nvPicPr>
        <p:blipFill>
          <a:blip r:embed="rId3"/>
          <a:stretch>
            <a:fillRect/>
          </a:stretch>
        </p:blipFill>
        <p:spPr>
          <a:xfrm>
            <a:off x="9966960" y="4892040"/>
            <a:ext cx="1554480" cy="1783080"/>
          </a:xfrm>
          <a:prstGeom prst="rect">
            <a:avLst/>
          </a:prstGeom>
        </p:spPr>
      </p:pic>
      <p:sp>
        <p:nvSpPr>
          <p:cNvPr id="4" name="Text 1"/>
          <p:cNvSpPr/>
          <p:nvPr/>
        </p:nvSpPr>
        <p:spPr>
          <a:xfrm>
            <a:off x="548640" y="548640"/>
            <a:ext cx="7315200" cy="1280160"/>
          </a:xfrm>
          <a:prstGeom prst="rect">
            <a:avLst/>
          </a:prstGeom>
          <a:noFill/>
          <a:ln/>
        </p:spPr>
        <p:txBody>
          <a:bodyPr wrap="square" rtlCol="0" anchor="t"/>
          <a:lstStyle/>
          <a:p>
            <a:pPr marL="0" indent="0">
              <a:buNone/>
            </a:pPr>
            <a:r>
              <a:rPr lang="en-US" sz="3000" b="1" dirty="0">
                <a:solidFill>
                  <a:srgbClr val="CF3338"/>
                </a:solidFill>
                <a:latin typeface="Arial" pitchFamily="34" charset="0"/>
                <a:ea typeface="Arial" pitchFamily="34" charset="-122"/>
                <a:cs typeface="Arial" pitchFamily="34" charset="-120"/>
              </a:rPr>
              <a:t>Customize it, live (light)</a:t>
            </a:r>
            <a:endParaRPr lang="en-US" sz="3000" dirty="0"/>
          </a:p>
        </p:txBody>
      </p:sp>
      <p:sp>
        <p:nvSpPr>
          <p:cNvPr id="5" name="Text 2"/>
          <p:cNvSpPr/>
          <p:nvPr/>
        </p:nvSpPr>
        <p:spPr>
          <a:xfrm>
            <a:off x="640080" y="1965960"/>
            <a:ext cx="7223760" cy="3108960"/>
          </a:xfrm>
          <a:prstGeom prst="rect">
            <a:avLst/>
          </a:prstGeom>
          <a:noFill/>
          <a:ln/>
        </p:spPr>
        <p:txBody>
          <a:bodyPr wrap="square" rtlCol="0" anchor="t"/>
          <a:lstStyle/>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1.  </a:t>
            </a:r>
            <a:r>
              <a:rPr lang="en-US" sz="1800" dirty="0">
                <a:solidFill>
                  <a:srgbClr val="1F2120"/>
                </a:solidFill>
                <a:latin typeface="Arial" pitchFamily="34" charset="0"/>
                <a:ea typeface="Arial" pitchFamily="34" charset="-122"/>
                <a:cs typeface="Arial" pitchFamily="34" charset="-120"/>
              </a:rPr>
              <a:t>Set one custom instruction, then re-run a summary and watch Copilot follow your format.</a:t>
            </a:r>
            <a:endParaRPr lang="en-US" sz="1800" dirty="0"/>
          </a:p>
          <a:p>
            <a:pPr marL="0" indent="0">
              <a:lnSpc>
                <a:spcPct val="105000"/>
              </a:lnSpc>
              <a:buNone/>
            </a:pPr>
            <a:r>
              <a:rPr lang="en-US" sz="1800" b="1" dirty="0">
                <a:solidFill>
                  <a:srgbClr val="CF3338"/>
                </a:solidFill>
                <a:latin typeface="Arial" pitchFamily="34" charset="0"/>
                <a:ea typeface="Arial" pitchFamily="34" charset="-122"/>
                <a:cs typeface="Arial" pitchFamily="34" charset="-120"/>
              </a:rPr>
              <a:t>2.  </a:t>
            </a:r>
            <a:r>
              <a:rPr lang="en-US" sz="1800" dirty="0">
                <a:solidFill>
                  <a:srgbClr val="1F2120"/>
                </a:solidFill>
                <a:latin typeface="Arial" pitchFamily="34" charset="0"/>
                <a:ea typeface="Arial" pitchFamily="34" charset="-122"/>
                <a:cs typeface="Arial" pitchFamily="34" charset="-120"/>
              </a:rPr>
              <a:t>Save your data-quality prompt as a reusable Skill you can call by name next month.</a:t>
            </a:r>
            <a:endParaRPr lang="en-US" sz="1800" dirty="0"/>
          </a:p>
        </p:txBody>
      </p:sp>
      <p:sp>
        <p:nvSpPr>
          <p:cNvPr id="6" name="Text 3"/>
          <p:cNvSpPr/>
          <p:nvPr/>
        </p:nvSpPr>
        <p:spPr>
          <a:xfrm>
            <a:off x="640080" y="5394960"/>
            <a:ext cx="7315200" cy="365760"/>
          </a:xfrm>
          <a:prstGeom prst="rect">
            <a:avLst/>
          </a:prstGeom>
          <a:noFill/>
          <a:ln/>
        </p:spPr>
        <p:txBody>
          <a:bodyPr wrap="square" rtlCol="0" anchor="ctr"/>
          <a:lstStyle/>
          <a:p>
            <a:pPr marL="0" indent="0">
              <a:buNone/>
            </a:pPr>
            <a:r>
              <a:rPr lang="en-US" sz="1500" b="1" dirty="0">
                <a:solidFill>
                  <a:srgbClr val="CF3338"/>
                </a:solidFill>
                <a:latin typeface="Arial" pitchFamily="34" charset="0"/>
                <a:ea typeface="Arial" pitchFamily="34" charset="-122"/>
                <a:cs typeface="Arial" pitchFamily="34" charset="-120"/>
              </a:rPr>
              <a:t>Worksheet:  </a:t>
            </a:r>
            <a:r>
              <a:rPr lang="en-US" sz="1500" dirty="0">
                <a:solidFill>
                  <a:srgbClr val="1F2120"/>
                </a:solidFill>
                <a:latin typeface="Courier New" pitchFamily="34" charset="0"/>
                <a:ea typeface="Courier New" pitchFamily="34" charset="-122"/>
                <a:cs typeface="Courier New" pitchFamily="34" charset="-120"/>
              </a:rPr>
              <a:t>InvoiceRegister</a:t>
            </a:r>
            <a:endParaRPr lang="en-US" sz="1500" dirty="0"/>
          </a:p>
        </p:txBody>
      </p:sp>
      <p:sp>
        <p:nvSpPr>
          <p:cNvPr id="7" name="Text 4"/>
          <p:cNvSpPr/>
          <p:nvPr/>
        </p:nvSpPr>
        <p:spPr>
          <a:xfrm>
            <a:off x="640080" y="5806440"/>
            <a:ext cx="7315200" cy="640080"/>
          </a:xfrm>
          <a:prstGeom prst="rect">
            <a:avLst/>
          </a:prstGeom>
          <a:noFill/>
          <a:ln/>
        </p:spPr>
        <p:txBody>
          <a:bodyPr wrap="square" rtlCol="0" anchor="ctr"/>
          <a:lstStyle/>
          <a:p>
            <a:pPr marL="0" indent="0">
              <a:buNone/>
            </a:pPr>
            <a:r>
              <a:rPr lang="en-US" sz="1250" i="1" dirty="0">
                <a:solidFill>
                  <a:srgbClr val="606060"/>
                </a:solidFill>
                <a:latin typeface="Arial" pitchFamily="34" charset="0"/>
                <a:ea typeface="Arial" pitchFamily="34" charset="-122"/>
                <a:cs typeface="Arial" pitchFamily="34" charset="-120"/>
              </a:rPr>
              <a:t>All three need a Microsoft 365 Copilot license and are rolling out through 2026. Keep this demo short.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CE1"/>
        </a:solidFill>
        <a:effectLst/>
      </p:bgPr>
    </p:bg>
    <p:spTree>
      <p:nvGrpSpPr>
        <p:cNvPr id="1" name=""/>
        <p:cNvGrpSpPr/>
        <p:nvPr/>
      </p:nvGrpSpPr>
      <p:grpSpPr>
        <a:xfrm>
          <a:off x="0" y="0"/>
          <a:ext cx="0" cy="0"/>
          <a:chOff x="0" y="0"/>
          <a:chExt cx="0" cy="0"/>
        </a:xfrm>
      </p:grpSpPr>
      <p:sp>
        <p:nvSpPr>
          <p:cNvPr id="2" name="Text 0"/>
          <p:cNvSpPr/>
          <p:nvPr/>
        </p:nvSpPr>
        <p:spPr>
          <a:xfrm>
            <a:off x="548640" y="502920"/>
            <a:ext cx="10058400" cy="914400"/>
          </a:xfrm>
          <a:prstGeom prst="rect">
            <a:avLst/>
          </a:prstGeom>
          <a:noFill/>
          <a:ln/>
        </p:spPr>
        <p:txBody>
          <a:bodyPr wrap="square" rtlCol="0" anchor="t"/>
          <a:lstStyle/>
          <a:p>
            <a:pPr marL="0" indent="0" algn="l">
              <a:buNone/>
            </a:pPr>
            <a:r>
              <a:rPr lang="en-US" sz="3200" b="1" dirty="0">
                <a:solidFill>
                  <a:srgbClr val="1F2120"/>
                </a:solidFill>
                <a:latin typeface="Arial" pitchFamily="34" charset="0"/>
                <a:ea typeface="Arial" pitchFamily="34" charset="-122"/>
                <a:cs typeface="Arial" pitchFamily="34" charset="-120"/>
              </a:rPr>
              <a:t>If you want to go further</a:t>
            </a:r>
            <a:endParaRPr lang="en-US" sz="3200" dirty="0"/>
          </a:p>
        </p:txBody>
      </p:sp>
      <p:sp>
        <p:nvSpPr>
          <p:cNvPr id="3" name="Shape 1"/>
          <p:cNvSpPr/>
          <p:nvPr/>
        </p:nvSpPr>
        <p:spPr>
          <a:xfrm>
            <a:off x="640080" y="1828800"/>
            <a:ext cx="164592" cy="777240"/>
          </a:xfrm>
          <a:prstGeom prst="rect">
            <a:avLst/>
          </a:prstGeom>
          <a:solidFill>
            <a:srgbClr val="CF3338"/>
          </a:solidFill>
          <a:ln w="12700">
            <a:solidFill>
              <a:srgbClr val="CF3338"/>
            </a:solidFill>
            <a:prstDash val="solid"/>
          </a:ln>
        </p:spPr>
        <p:txBody>
          <a:bodyPr/>
          <a:lstStyle/>
          <a:p>
            <a:endParaRPr lang="en-US"/>
          </a:p>
        </p:txBody>
      </p:sp>
      <p:sp>
        <p:nvSpPr>
          <p:cNvPr id="4" name="Text 2"/>
          <p:cNvSpPr/>
          <p:nvPr/>
        </p:nvSpPr>
        <p:spPr>
          <a:xfrm>
            <a:off x="960120" y="1783080"/>
            <a:ext cx="9692640" cy="86868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Python in Excel   </a:t>
            </a:r>
            <a:r>
              <a:rPr lang="en-US" sz="1450" dirty="0">
                <a:solidFill>
                  <a:srgbClr val="606060"/>
                </a:solidFill>
                <a:latin typeface="Arial" pitchFamily="34" charset="0"/>
                <a:ea typeface="Arial" pitchFamily="34" charset="-122"/>
                <a:cs typeface="Arial" pitchFamily="34" charset="-120"/>
              </a:rPr>
              <a:t>Forecasting and simulation, written for you by Copilot and run right in the grid.</a:t>
            </a:r>
            <a:endParaRPr lang="en-US" sz="1700" dirty="0"/>
          </a:p>
        </p:txBody>
      </p:sp>
      <p:sp>
        <p:nvSpPr>
          <p:cNvPr id="5" name="Shape 3"/>
          <p:cNvSpPr/>
          <p:nvPr/>
        </p:nvSpPr>
        <p:spPr>
          <a:xfrm>
            <a:off x="640080" y="2761488"/>
            <a:ext cx="164592" cy="777240"/>
          </a:xfrm>
          <a:prstGeom prst="rect">
            <a:avLst/>
          </a:prstGeom>
          <a:solidFill>
            <a:srgbClr val="CF3338"/>
          </a:solidFill>
          <a:ln w="12700">
            <a:solidFill>
              <a:srgbClr val="CF3338"/>
            </a:solidFill>
            <a:prstDash val="solid"/>
          </a:ln>
        </p:spPr>
        <p:txBody>
          <a:bodyPr/>
          <a:lstStyle/>
          <a:p>
            <a:endParaRPr lang="en-US"/>
          </a:p>
        </p:txBody>
      </p:sp>
      <p:sp>
        <p:nvSpPr>
          <p:cNvPr id="6" name="Text 4"/>
          <p:cNvSpPr/>
          <p:nvPr/>
        </p:nvSpPr>
        <p:spPr>
          <a:xfrm>
            <a:off x="960120" y="2715768"/>
            <a:ext cx="9692640" cy="86868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Analyst Agent   </a:t>
            </a:r>
            <a:r>
              <a:rPr lang="en-US" sz="1450" dirty="0">
                <a:solidFill>
                  <a:srgbClr val="606060"/>
                </a:solidFill>
                <a:latin typeface="Arial" pitchFamily="34" charset="0"/>
                <a:ea typeface="Arial" pitchFamily="34" charset="-122"/>
                <a:cs typeface="Arial" pitchFamily="34" charset="-120"/>
              </a:rPr>
              <a:t>Scenario analysis and exception review that shows its work step by step.</a:t>
            </a:r>
            <a:endParaRPr lang="en-US" sz="1700" dirty="0"/>
          </a:p>
        </p:txBody>
      </p:sp>
      <p:sp>
        <p:nvSpPr>
          <p:cNvPr id="7" name="Shape 5"/>
          <p:cNvSpPr/>
          <p:nvPr/>
        </p:nvSpPr>
        <p:spPr>
          <a:xfrm>
            <a:off x="640080" y="3694176"/>
            <a:ext cx="164592" cy="777240"/>
          </a:xfrm>
          <a:prstGeom prst="rect">
            <a:avLst/>
          </a:prstGeom>
          <a:solidFill>
            <a:srgbClr val="CF3338"/>
          </a:solidFill>
          <a:ln w="12700">
            <a:solidFill>
              <a:srgbClr val="CF3338"/>
            </a:solidFill>
            <a:prstDash val="solid"/>
          </a:ln>
        </p:spPr>
        <p:txBody>
          <a:bodyPr/>
          <a:lstStyle/>
          <a:p>
            <a:endParaRPr lang="en-US"/>
          </a:p>
        </p:txBody>
      </p:sp>
      <p:sp>
        <p:nvSpPr>
          <p:cNvPr id="8" name="Text 6"/>
          <p:cNvSpPr/>
          <p:nvPr/>
        </p:nvSpPr>
        <p:spPr>
          <a:xfrm>
            <a:off x="960120" y="3648456"/>
            <a:ext cx="9692640" cy="86868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Agent Mode   </a:t>
            </a:r>
            <a:r>
              <a:rPr lang="en-US" sz="1450" dirty="0">
                <a:solidFill>
                  <a:srgbClr val="606060"/>
                </a:solidFill>
                <a:latin typeface="Arial" pitchFamily="34" charset="0"/>
                <a:ea typeface="Arial" pitchFamily="34" charset="-122"/>
                <a:cs typeface="Arial" pitchFamily="34" charset="-120"/>
              </a:rPr>
              <a:t>A coordinated first draft across sheets: analysis, a chart, and a written summary.</a:t>
            </a:r>
            <a:endParaRPr lang="en-US" sz="1700" dirty="0"/>
          </a:p>
        </p:txBody>
      </p:sp>
      <p:sp>
        <p:nvSpPr>
          <p:cNvPr id="9" name="Shape 7"/>
          <p:cNvSpPr/>
          <p:nvPr/>
        </p:nvSpPr>
        <p:spPr>
          <a:xfrm>
            <a:off x="640080" y="4626864"/>
            <a:ext cx="164592" cy="777240"/>
          </a:xfrm>
          <a:prstGeom prst="rect">
            <a:avLst/>
          </a:prstGeom>
          <a:solidFill>
            <a:srgbClr val="CF3338"/>
          </a:solidFill>
          <a:ln w="12700">
            <a:solidFill>
              <a:srgbClr val="CF3338"/>
            </a:solidFill>
            <a:prstDash val="solid"/>
          </a:ln>
        </p:spPr>
        <p:txBody>
          <a:bodyPr/>
          <a:lstStyle/>
          <a:p>
            <a:endParaRPr lang="en-US"/>
          </a:p>
        </p:txBody>
      </p:sp>
      <p:sp>
        <p:nvSpPr>
          <p:cNvPr id="10" name="Text 8"/>
          <p:cNvSpPr/>
          <p:nvPr/>
        </p:nvSpPr>
        <p:spPr>
          <a:xfrm>
            <a:off x="960120" y="4581144"/>
            <a:ext cx="9692640" cy="868680"/>
          </a:xfrm>
          <a:prstGeom prst="rect">
            <a:avLst/>
          </a:prstGeom>
          <a:noFill/>
          <a:ln/>
        </p:spPr>
        <p:txBody>
          <a:bodyPr wrap="square" rtlCol="0" anchor="t"/>
          <a:lstStyle/>
          <a:p>
            <a:pPr marL="0" indent="0">
              <a:lnSpc>
                <a:spcPct val="100000"/>
              </a:lnSpc>
              <a:buNone/>
            </a:pPr>
            <a:r>
              <a:rPr lang="en-US" sz="1700" b="1" dirty="0">
                <a:solidFill>
                  <a:srgbClr val="1F2120"/>
                </a:solidFill>
                <a:latin typeface="Arial" pitchFamily="34" charset="0"/>
                <a:ea typeface="Arial" pitchFamily="34" charset="-122"/>
                <a:cs typeface="Arial" pitchFamily="34" charset="-120"/>
              </a:rPr>
              <a:t>Workbook Rules (.Rules)   </a:t>
            </a:r>
            <a:r>
              <a:rPr lang="en-US" sz="1450" dirty="0">
                <a:solidFill>
                  <a:srgbClr val="606060"/>
                </a:solidFill>
                <a:latin typeface="Arial" pitchFamily="34" charset="0"/>
                <a:ea typeface="Arial" pitchFamily="34" charset="-122"/>
                <a:cs typeface="Arial" pitchFamily="34" charset="-120"/>
              </a:rPr>
              <a:t>Bake your team’s standards into a file so every Copilot edit follows them.</a:t>
            </a:r>
            <a:endParaRPr lang="en-US" sz="1700" dirty="0"/>
          </a:p>
        </p:txBody>
      </p:sp>
      <p:sp>
        <p:nvSpPr>
          <p:cNvPr id="11" name="Text 9"/>
          <p:cNvSpPr/>
          <p:nvPr/>
        </p:nvSpPr>
        <p:spPr>
          <a:xfrm>
            <a:off x="640080" y="5715000"/>
            <a:ext cx="10058400" cy="365760"/>
          </a:xfrm>
          <a:prstGeom prst="rect">
            <a:avLst/>
          </a:prstGeom>
          <a:noFill/>
          <a:ln/>
        </p:spPr>
        <p:txBody>
          <a:bodyPr wrap="square" rtlCol="0" anchor="ctr"/>
          <a:lstStyle/>
          <a:p>
            <a:pPr marL="0" indent="0">
              <a:buNone/>
            </a:pPr>
            <a:r>
              <a:rPr lang="en-US" sz="1300" i="1" dirty="0">
                <a:solidFill>
                  <a:srgbClr val="606060"/>
                </a:solidFill>
                <a:latin typeface="Arial" pitchFamily="34" charset="0"/>
                <a:ea typeface="Arial" pitchFamily="34" charset="-122"/>
                <a:cs typeface="Arial" pitchFamily="34" charset="-120"/>
              </a:rPr>
              <a:t>Pick whichever the room is asking about. Each one is a session on its own.</a:t>
            </a:r>
            <a:endParaRPr lang="en-US" sz="1300" dirty="0"/>
          </a:p>
        </p:txBody>
      </p:sp>
      <p:pic>
        <p:nvPicPr>
          <p:cNvPr id="12" name="Image 0"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CE1"/>
        </a:solidFill>
        <a:effectLst/>
      </p:bgPr>
    </p:bg>
    <p:spTree>
      <p:nvGrpSpPr>
        <p:cNvPr id="1" name=""/>
        <p:cNvGrpSpPr/>
        <p:nvPr/>
      </p:nvGrpSpPr>
      <p:grpSpPr>
        <a:xfrm>
          <a:off x="0" y="0"/>
          <a:ext cx="0" cy="0"/>
          <a:chOff x="0" y="0"/>
          <a:chExt cx="0" cy="0"/>
        </a:xfrm>
      </p:grpSpPr>
      <p:sp>
        <p:nvSpPr>
          <p:cNvPr id="3" name="Text 0"/>
          <p:cNvSpPr/>
          <p:nvPr/>
        </p:nvSpPr>
        <p:spPr>
          <a:xfrm>
            <a:off x="548640" y="2468880"/>
            <a:ext cx="8229600" cy="1097280"/>
          </a:xfrm>
          <a:prstGeom prst="rect">
            <a:avLst/>
          </a:prstGeom>
          <a:noFill/>
          <a:ln/>
        </p:spPr>
        <p:txBody>
          <a:bodyPr wrap="square" rtlCol="0" anchor="ctr"/>
          <a:lstStyle/>
          <a:p>
            <a:pPr marL="0" indent="0">
              <a:buNone/>
            </a:pPr>
            <a:r>
              <a:rPr lang="en-US" sz="4800" b="1" dirty="0">
                <a:solidFill>
                  <a:srgbClr val="CF3338"/>
                </a:solidFill>
                <a:latin typeface="Arial" pitchFamily="34" charset="0"/>
                <a:ea typeface="Arial" pitchFamily="34" charset="-122"/>
                <a:cs typeface="Arial" pitchFamily="34" charset="-120"/>
              </a:rPr>
              <a:t>Questions?</a:t>
            </a:r>
            <a:endParaRPr lang="en-US" sz="4800" dirty="0"/>
          </a:p>
        </p:txBody>
      </p:sp>
      <p:sp>
        <p:nvSpPr>
          <p:cNvPr id="4" name="Text 1"/>
          <p:cNvSpPr/>
          <p:nvPr/>
        </p:nvSpPr>
        <p:spPr>
          <a:xfrm>
            <a:off x="566928" y="3657600"/>
            <a:ext cx="7315200" cy="1280160"/>
          </a:xfrm>
          <a:prstGeom prst="rect">
            <a:avLst/>
          </a:prstGeom>
          <a:noFill/>
          <a:ln/>
        </p:spPr>
        <p:txBody>
          <a:bodyPr wrap="square" rtlCol="0" anchor="ctr"/>
          <a:lstStyle/>
          <a:p>
            <a:pPr marL="0" indent="0">
              <a:lnSpc>
                <a:spcPct val="120000"/>
              </a:lnSpc>
              <a:buNone/>
            </a:pPr>
            <a:r>
              <a:rPr lang="en-US" sz="1700" b="1" dirty="0">
                <a:solidFill>
                  <a:srgbClr val="1F2120"/>
                </a:solidFill>
                <a:latin typeface="Arial" pitchFamily="34" charset="0"/>
                <a:ea typeface="Arial" pitchFamily="34" charset="-122"/>
                <a:cs typeface="Arial" pitchFamily="34" charset="-120"/>
              </a:rPr>
              <a:t>George Mount</a:t>
            </a:r>
            <a:endParaRPr lang="en-US" sz="1700" dirty="0"/>
          </a:p>
          <a:p>
            <a:pPr marL="0" indent="0">
              <a:lnSpc>
                <a:spcPct val="120000"/>
              </a:lnSpc>
              <a:buNone/>
            </a:pPr>
            <a:r>
              <a:rPr lang="en-US" sz="1700" dirty="0">
                <a:solidFill>
                  <a:srgbClr val="606060"/>
                </a:solidFill>
                <a:latin typeface="Arial" pitchFamily="34" charset="0"/>
                <a:ea typeface="Arial" pitchFamily="34" charset="-122"/>
                <a:cs typeface="Arial" pitchFamily="34" charset="-120"/>
              </a:rPr>
              <a:t>george@stringfestanalytics.com</a:t>
            </a:r>
            <a:endParaRPr lang="en-US" sz="1700" dirty="0"/>
          </a:p>
          <a:p>
            <a:pPr marL="0" indent="0">
              <a:lnSpc>
                <a:spcPct val="120000"/>
              </a:lnSpc>
              <a:buNone/>
            </a:pPr>
            <a:r>
              <a:rPr lang="en-US" sz="1700" dirty="0">
                <a:solidFill>
                  <a:srgbClr val="606060"/>
                </a:solidFill>
                <a:latin typeface="Arial" pitchFamily="34" charset="0"/>
                <a:ea typeface="Arial" pitchFamily="34" charset="-122"/>
                <a:cs typeface="Arial" pitchFamily="34" charset="-120"/>
              </a:rPr>
              <a:t>stringfestanalytics.com</a:t>
            </a:r>
            <a:endParaRPr lang="en-US" sz="1700" dirty="0"/>
          </a:p>
        </p:txBody>
      </p:sp>
      <p:pic>
        <p:nvPicPr>
          <p:cNvPr id="5" name="Image 1" descr="assets/chevron-red.png"/>
          <p:cNvPicPr>
            <a:picLocks noChangeAspect="1"/>
          </p:cNvPicPr>
          <p:nvPr/>
        </p:nvPicPr>
        <p:blipFill>
          <a:blip r:embed="rId3"/>
          <a:stretch>
            <a:fillRect/>
          </a:stretch>
        </p:blipFill>
        <p:spPr>
          <a:xfrm>
            <a:off x="10744200" y="5074920"/>
            <a:ext cx="1417320" cy="16276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85800" y="2377440"/>
            <a:ext cx="10058400" cy="1188720"/>
          </a:xfrm>
          <a:prstGeom prst="rect">
            <a:avLst/>
          </a:prstGeom>
          <a:noFill/>
          <a:ln/>
        </p:spPr>
        <p:txBody>
          <a:bodyPr wrap="square" rtlCol="0" anchor="ctr"/>
          <a:lstStyle/>
          <a:p>
            <a:pPr marL="0" indent="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3" name="Text 1"/>
          <p:cNvSpPr/>
          <p:nvPr/>
        </p:nvSpPr>
        <p:spPr>
          <a:xfrm>
            <a:off x="713232" y="3657600"/>
            <a:ext cx="8229600" cy="914400"/>
          </a:xfrm>
          <a:prstGeom prst="rect">
            <a:avLst/>
          </a:prstGeom>
          <a:noFill/>
          <a:ln/>
        </p:spPr>
        <p:txBody>
          <a:bodyPr wrap="square" rtlCol="0" anchor="ctr"/>
          <a:lstStyle/>
          <a:p>
            <a:pPr marL="0" indent="0">
              <a:lnSpc>
                <a:spcPct val="120000"/>
              </a:lnSpc>
              <a:buNone/>
            </a:pPr>
            <a:r>
              <a:rPr lang="en-US" sz="1700" dirty="0">
                <a:solidFill>
                  <a:srgbClr val="F7DDDE"/>
                </a:solidFill>
                <a:latin typeface="Arial" pitchFamily="34" charset="0"/>
                <a:ea typeface="Arial" pitchFamily="34" charset="-122"/>
                <a:cs typeface="Arial" pitchFamily="34" charset="-120"/>
              </a:rPr>
              <a:t>george@stringfestanalytics.com</a:t>
            </a:r>
            <a:endParaRPr lang="en-US" sz="1700" dirty="0"/>
          </a:p>
          <a:p>
            <a:pPr marL="0" indent="0">
              <a:lnSpc>
                <a:spcPct val="120000"/>
              </a:lnSpc>
              <a:buNone/>
            </a:pPr>
            <a:r>
              <a:rPr lang="en-US" sz="1700" dirty="0">
                <a:solidFill>
                  <a:srgbClr val="F7DDDE"/>
                </a:solidFill>
                <a:latin typeface="Arial" pitchFamily="34" charset="0"/>
                <a:ea typeface="Arial" pitchFamily="34" charset="-122"/>
                <a:cs typeface="Arial" pitchFamily="34" charset="-120"/>
              </a:rPr>
              <a:t>stringfestanalytics.com</a:t>
            </a:r>
            <a:endParaRPr lang="en-US" sz="1700" dirty="0"/>
          </a:p>
        </p:txBody>
      </p:sp>
      <p:pic>
        <p:nvPicPr>
          <p:cNvPr id="4" name="Image 0" descr="assets/sf-white.png"/>
          <p:cNvPicPr>
            <a:picLocks noChangeAspect="1"/>
          </p:cNvPicPr>
          <p:nvPr/>
        </p:nvPicPr>
        <p:blipFill>
          <a:blip r:embed="rId3"/>
          <a:stretch>
            <a:fillRect/>
          </a:stretch>
        </p:blipFill>
        <p:spPr>
          <a:xfrm>
            <a:off x="8869680" y="5989320"/>
            <a:ext cx="2743200" cy="376733"/>
          </a:xfrm>
          <a:prstGeom prst="rect">
            <a:avLst/>
          </a:prstGeom>
        </p:spPr>
      </p:pic>
      <p:pic>
        <p:nvPicPr>
          <p:cNvPr id="5" name="Image 1" descr="assets/chevron-white.png"/>
          <p:cNvPicPr>
            <a:picLocks noChangeAspect="1"/>
          </p:cNvPicPr>
          <p:nvPr/>
        </p:nvPicPr>
        <p:blipFill>
          <a:blip r:embed="rId4"/>
          <a:stretch>
            <a:fillRect/>
          </a:stretch>
        </p:blipFill>
        <p:spPr>
          <a:xfrm>
            <a:off x="10744200" y="5074920"/>
            <a:ext cx="1417320" cy="16276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3481</Words>
  <Application>Microsoft Office PowerPoint</Application>
  <PresentationFormat>Widescreen</PresentationFormat>
  <Paragraphs>172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George Mount</cp:lastModifiedBy>
  <cp:revision>2</cp:revision>
  <dcterms:created xsi:type="dcterms:W3CDTF">2026-07-14T11:45:13Z</dcterms:created>
  <dcterms:modified xsi:type="dcterms:W3CDTF">2026-07-14T12:06:35Z</dcterms:modified>
</cp:coreProperties>
</file>